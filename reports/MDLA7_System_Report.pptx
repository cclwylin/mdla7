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Fast Profile Time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fast ms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0.456</c:v>
                </c:pt>
                <c:pt idx="1">
                  <c:v>0.373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66751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183458"/>
                </a:solidFill>
              </a:rPr>
              <a:t>MDLA7 System 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621792"/>
            <a:ext cx="621792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5E6875"/>
                </a:solidFill>
              </a:rPr>
              <a:t>Based on spec/mdla7.drawio; updated to current MDLA7 SystemC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0" y="228600"/>
            <a:ext cx="425196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338328"/>
            <a:ext cx="4069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00897B"/>
                </a:solidFill>
              </a:rPr>
              <a:t>System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7" y="630936"/>
            <a:ext cx="4032504" cy="4846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0">
                <a:solidFill>
                  <a:srgbClr val="191C21"/>
                </a:solidFill>
              </a:rPr>
              <a:t>1.9 GHz core | 62.3 TOPS INT8x8 baseline
3 MB L1Mesh SRAM | LPDDR5X-10667, dual x32
64B descriptors via DRAM ring + MMIO doorbell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1143000" cy="594360"/>
          </a:xfrm>
          <a:prstGeom prst="roundRect">
            <a:avLst/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527048"/>
            <a:ext cx="99669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10512"/>
            <a:ext cx="923544" cy="137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RISC-V
MMIO doorbell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1417320"/>
            <a:ext cx="9235440" cy="594360"/>
          </a:xfrm>
          <a:prstGeom prst="roundRect">
            <a:avLst/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9112" y="1527048"/>
            <a:ext cx="908913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Command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5688" y="1810512"/>
            <a:ext cx="9015984" cy="137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Descriptor decode + dependency tracker + per-engine config dispatch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45920" y="1719072"/>
            <a:ext cx="320040" cy="0"/>
          </a:xfrm>
          <a:prstGeom prst="line">
            <a:avLst/>
          </a:prstGeom>
          <a:ln w="1905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27632" y="144475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1T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423160"/>
            <a:ext cx="1645920" cy="1051560"/>
          </a:xfrm>
          <a:prstGeom prst="roundRect">
            <a:avLst/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53288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CONV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816352"/>
            <a:ext cx="1426464" cy="5943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65,536 base 4x4 cells
16 clusters, 4 FP
Bit-decomposable INT+FP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96312" y="2423160"/>
            <a:ext cx="1645920" cy="1051560"/>
          </a:xfrm>
          <a:prstGeom prst="round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9464" y="253288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Requant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816352"/>
            <a:ext cx="1426464" cy="5943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16 per-cluster lanes
INT32 -&gt; INT8/INT16
scale + shift + zp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2423160"/>
            <a:ext cx="1645920" cy="1051560"/>
          </a:xfrm>
          <a:prstGeom prst="roundRect">
            <a:avLst/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1416" y="253288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EWE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2816352"/>
            <a:ext cx="1426464" cy="5943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Element-wise ops
add / mul / sub
activation / compare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2423160"/>
            <a:ext cx="1645920" cy="1051560"/>
          </a:xfrm>
          <a:prstGeom prst="roundRect">
            <a:avLst/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53288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POOL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816352"/>
            <a:ext cx="1426464" cy="5943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Max / Avg / Global
spatial reduction
window 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02168" y="2423160"/>
            <a:ext cx="1645920" cy="1051560"/>
          </a:xfrm>
          <a:prstGeom prst="roundRect">
            <a:avLst/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253288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TNPS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816352"/>
            <a:ext cx="1426464" cy="5943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transpose / slice
space-depth / layout
L1-to-L1 movement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17320" y="2011680"/>
            <a:ext cx="0" cy="411480"/>
          </a:xfrm>
          <a:prstGeom prst="line">
            <a:avLst/>
          </a:prstGeom>
          <a:ln w="1397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88720" y="215798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W 1T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19272" y="2011680"/>
            <a:ext cx="0" cy="411480"/>
          </a:xfrm>
          <a:prstGeom prst="line">
            <a:avLst/>
          </a:prstGeom>
          <a:ln w="1397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090672" y="215798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W 1T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21224" y="2011680"/>
            <a:ext cx="0" cy="411480"/>
          </a:xfrm>
          <a:prstGeom prst="line">
            <a:avLst/>
          </a:prstGeom>
          <a:ln w="1397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992624" y="215798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W 1T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23176" y="2011680"/>
            <a:ext cx="0" cy="411480"/>
          </a:xfrm>
          <a:prstGeom prst="line">
            <a:avLst/>
          </a:prstGeom>
          <a:ln w="1397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94576" y="215798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W 1T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25128" y="2011680"/>
            <a:ext cx="0" cy="411480"/>
          </a:xfrm>
          <a:prstGeom prst="line">
            <a:avLst/>
          </a:prstGeom>
          <a:ln w="1397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96528" y="215798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W 1T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160520"/>
            <a:ext cx="1645920" cy="713232"/>
          </a:xfrm>
          <a:prstGeom prst="roundRect">
            <a:avLst/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42702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L1Mesh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4553712"/>
            <a:ext cx="142646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3 MB
4x4 NoC SRAM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4160520"/>
            <a:ext cx="8595360" cy="713232"/>
          </a:xfrm>
          <a:prstGeom prst="roundRect">
            <a:avLst/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79192" y="4270248"/>
            <a:ext cx="844905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L1_Manager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15768" y="4553712"/>
            <a:ext cx="837590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Arbitrates non-CONV engines and UDMA; CONV ACT/WGT reads bypass directly to L1Mesh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325880" y="3474720"/>
            <a:ext cx="0" cy="685800"/>
          </a:xfrm>
          <a:prstGeom prst="line">
            <a:avLst/>
          </a:prstGeom>
          <a:ln w="3175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8368" y="3657600"/>
            <a:ext cx="14173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32x16B R ACT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691640" y="3474720"/>
            <a:ext cx="0" cy="685800"/>
          </a:xfrm>
          <a:prstGeom prst="line">
            <a:avLst/>
          </a:prstGeom>
          <a:ln w="3175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499616" y="3858768"/>
            <a:ext cx="10515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32x16B R WGT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319272" y="3474720"/>
            <a:ext cx="0" cy="685800"/>
          </a:xfrm>
          <a:prstGeom prst="line">
            <a:avLst/>
          </a:prstGeom>
          <a:ln w="2667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971800" y="368503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8R/8W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221224" y="3474720"/>
            <a:ext cx="0" cy="685800"/>
          </a:xfrm>
          <a:prstGeom prst="line">
            <a:avLst/>
          </a:prstGeom>
          <a:ln w="2667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873752" y="368503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16R/8W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123176" y="3474720"/>
            <a:ext cx="0" cy="685800"/>
          </a:xfrm>
          <a:prstGeom prst="line">
            <a:avLst/>
          </a:prstGeom>
          <a:ln w="2667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775704" y="368503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16R/8W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025128" y="3474720"/>
            <a:ext cx="0" cy="685800"/>
          </a:xfrm>
          <a:prstGeom prst="line">
            <a:avLst/>
          </a:prstGeom>
          <a:ln w="2667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677655" y="368503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8R/8W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240280" y="4517136"/>
            <a:ext cx="365760" cy="0"/>
          </a:xfrm>
          <a:prstGeom prst="line">
            <a:avLst/>
          </a:prstGeom>
          <a:ln w="2667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148840" y="4681728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16R/16W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606040" y="5285232"/>
            <a:ext cx="8595360" cy="566928"/>
          </a:xfrm>
          <a:prstGeom prst="roundRect">
            <a:avLst/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79192" y="5394960"/>
            <a:ext cx="844905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UDMA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15768" y="5678424"/>
            <a:ext cx="8375904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DRAM &lt;-&gt; L1 copy, prefetch/store, activation codec; layout ops moved to TNPS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903720" y="4873752"/>
            <a:ext cx="0" cy="411480"/>
          </a:xfrm>
          <a:prstGeom prst="line">
            <a:avLst/>
          </a:prstGeom>
          <a:ln w="26670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37960" y="4983480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2E65B4"/>
                </a:solidFill>
              </a:rPr>
              <a:t>16R/16W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606040" y="6053328"/>
            <a:ext cx="8595360" cy="438912"/>
          </a:xfrm>
          <a:prstGeom prst="roundRect">
            <a:avLst/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79192" y="6163056"/>
            <a:ext cx="8449056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4 GB DRAM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15768" y="6446520"/>
            <a:ext cx="8375904" cy="-182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LPDDR5X-10667 off-chip memory model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629400" y="5852160"/>
            <a:ext cx="0" cy="201168"/>
          </a:xfrm>
          <a:prstGeom prst="line">
            <a:avLst/>
          </a:prstGeom>
          <a:ln w="1778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178040" y="5852160"/>
            <a:ext cx="0" cy="201168"/>
          </a:xfrm>
          <a:prstGeom prst="line">
            <a:avLst/>
          </a:prstGeom>
          <a:ln w="1778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144768" y="587959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33488" y="587959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50" b="1">
                <a:solidFill>
                  <a:srgbClr val="5E6875"/>
                </a:solidFill>
              </a:rPr>
              <a:t>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5715000"/>
            <a:ext cx="1554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183458"/>
                </a:solidFill>
              </a:rPr>
              <a:t>Legend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48640" y="6053328"/>
            <a:ext cx="502920" cy="0"/>
          </a:xfrm>
          <a:prstGeom prst="line">
            <a:avLst/>
          </a:prstGeom>
          <a:ln w="29209">
            <a:solidFill>
              <a:srgbClr val="2E6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115568" y="5943600"/>
            <a:ext cx="12801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5E6875"/>
                </a:solidFill>
              </a:rPr>
              <a:t>Payload lanes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48640" y="6336792"/>
            <a:ext cx="502920" cy="0"/>
          </a:xfrm>
          <a:prstGeom prst="line">
            <a:avLst/>
          </a:prstGeom>
          <a:ln w="17780">
            <a:solidFill>
              <a:srgbClr val="5E68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115568" y="6227064"/>
            <a:ext cx="1508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0">
                <a:solidFill>
                  <a:srgbClr val="5E6875"/>
                </a:solidFill>
              </a:rPr>
              <a:t>1T config/control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46920" y="6473952"/>
            <a:ext cx="2011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1.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What was built and what is proven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1920240" cy="10058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35607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62.3 TOPS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11095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INT8 baseline CONV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325880"/>
            <a:ext cx="1920240" cy="1005840"/>
          </a:xfrm>
          <a:prstGeom prst="roundRect">
            <a:avLst/>
          </a:prstGeom>
          <a:solidFill>
            <a:srgbClr val="39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62072" y="1435607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 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2072" y="1911095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L1Mesh SRAM working buffer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325880"/>
            <a:ext cx="1920240" cy="1005840"/>
          </a:xfrm>
          <a:prstGeom prst="roundRect">
            <a:avLst/>
          </a:prstGeom>
          <a:solidFill>
            <a:srgbClr val="E08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6632" y="1435607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51/51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2" y="1911095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ETHZ_V6 fast functional 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1325880"/>
            <a:ext cx="1920240" cy="1005840"/>
          </a:xfrm>
          <a:prstGeom prst="roundRect">
            <a:avLst/>
          </a:prstGeom>
          <a:solidFill>
            <a:srgbClr val="1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51192" y="1435607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11/11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911095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Hotspot fast/conflict/mesh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80360"/>
            <a:ext cx="10789920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Implemented a deployable SystemC/TLM model for MDLA7: command dispatch, L1Mesh, UDMA, CONV, Requant, EWE, POOL, and TNPS.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Added profile visibility: per-layer flow ID, engine lanes, fast/conflict/mesh timing, and interactive Gantt timeline support.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Optimization focus moved from layer-by-layer DRAM round trips to tiled microblock handoff and on-chip producer-to-consumer fusion.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Latest hotspot example: sd_decoder_quant_L152_L191 reduced from 0.456 ms to 0.373 ms by folding PAD into the following CONV.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Remaining work before synthesis is mostly RTL hardening: precise interfaces, cycle-accurate arbitration, verification collateral, and timing closure.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2. Given Specification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Architectural assumptions captured in spec.md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3474720" cy="14173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463039"/>
            <a:ext cx="314553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183458"/>
                </a:solidFill>
              </a:rPr>
              <a:t>Compute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54679" cy="8869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65,536 4x4 base cells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16 clusters; 4 FP-capable clusters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INT8x8 baseline: 16,384 MAC/cycle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1.9 GHz core clock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25880"/>
            <a:ext cx="3474720" cy="14173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463039"/>
            <a:ext cx="314553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398E5A"/>
                </a:solidFill>
              </a:rPr>
              <a:t>Memory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783080"/>
            <a:ext cx="3154679" cy="8869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3 MB L1Mesh SRAM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Dual 4x4 mesh, 16-bank backend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LPDDR5X-10667, dual-channel x32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85.3 GB/s DRAM peak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325880"/>
            <a:ext cx="3246120" cy="14173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463039"/>
            <a:ext cx="291693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00897B"/>
                </a:solidFill>
              </a:rPr>
              <a:t>Programming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1783080"/>
            <a:ext cx="2926079" cy="8869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Descriptor ring in DRAM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MMIO doorbell from host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Wait/signal tags for dependencies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Per-layer profile and flow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10515600" cy="1965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CONV ACT and WGT read paths bypass L1_Manager and directly enter L1Mesh.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CONV output is not a normal Payload W path; partial sums chain directly to Requant lanes.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Non-CONV engines share L1_Manager arbitration: Requant, EWE, POOL, TNPS, and UDMA.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SystemC keeps three timing modes: fast estimate, port-conflict, and mesh-conflict.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3. Module Dataflow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How data moves through the current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1417320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296265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UDMA
DRAM↔L1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834640"/>
            <a:ext cx="1417320" cy="640080"/>
          </a:xfrm>
          <a:prstGeom prst="roundRect">
            <a:avLst/>
          </a:prstGeom>
          <a:solidFill>
            <a:srgbClr val="39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5456" y="296265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L1_Manager
Arbiter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834640"/>
            <a:ext cx="1417320" cy="640080"/>
          </a:xfrm>
          <a:prstGeom prst="roundRect">
            <a:avLst/>
          </a:prstGeom>
          <a:solidFill>
            <a:srgbClr val="1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296265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L1Mesh
3 MB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965960"/>
            <a:ext cx="1417320" cy="640080"/>
          </a:xfrm>
          <a:prstGeom prst="roundRect">
            <a:avLst/>
          </a:prstGeom>
          <a:solidFill>
            <a:srgbClr val="E08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209397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CONV
Direct 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926080"/>
            <a:ext cx="1417320" cy="640080"/>
          </a:xfrm>
          <a:prstGeom prst="roundRect">
            <a:avLst/>
          </a:prstGeom>
          <a:solidFill>
            <a:srgbClr val="E08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305409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Requant
Chain/W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2423160"/>
            <a:ext cx="1417320" cy="640080"/>
          </a:xfrm>
          <a:prstGeom prst="roundRect">
            <a:avLst/>
          </a:prstGeom>
          <a:solidFill>
            <a:srgbClr val="5E6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55117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EWE / POOL
Vector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3429000"/>
            <a:ext cx="1417320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3557016"/>
            <a:ext cx="134416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TNPS
Layout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990088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5E6875"/>
                </a:solidFill>
              </a:rPr>
              <a:t>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2990088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5E6875"/>
                </a:solidFill>
              </a:rPr>
              <a:t>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14884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5E6875"/>
                </a:solidFill>
              </a:rPr>
              <a:t>direct ACT/WGT 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3127248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5E6875"/>
                </a:solidFill>
              </a:rPr>
              <a:t>psum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69748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5E6875"/>
                </a:solidFill>
              </a:rPr>
              <a:t>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70332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5E6875"/>
                </a:solidFill>
              </a:rPr>
              <a:t>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617720"/>
            <a:ext cx="1078992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UDMA handles external traffic and activation codec. TNPS now owns tensor layout movement so UDMA is not blocked by transpose/slice/space-depth work.</a:t>
            </a:r>
          </a:p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Microblock handoff keeps producer output in L1 and lets consumers start without intermediate DRAM writeback.</a:t>
            </a:r>
          </a:p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Flow ID groups fused layers in the profile report; layer ID equals flow only when fusion is not possible.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4. Module Functions and 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Current modeling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325880" cy="384048"/>
          </a:xfrm>
          <a:prstGeom prst="rect">
            <a:avLst/>
          </a:prstGeom>
          <a:solidFill>
            <a:srgbClr val="18345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16736"/>
            <a:ext cx="1234439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234440"/>
            <a:ext cx="3886200" cy="384048"/>
          </a:xfrm>
          <a:prstGeom prst="rect">
            <a:avLst/>
          </a:prstGeom>
          <a:solidFill>
            <a:srgbClr val="18345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1316736"/>
            <a:ext cx="3794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Function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234440"/>
            <a:ext cx="5989320" cy="384048"/>
          </a:xfrm>
          <a:prstGeom prst="rect">
            <a:avLst/>
          </a:prstGeom>
          <a:solidFill>
            <a:srgbClr val="18345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316736"/>
            <a:ext cx="58978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Throughput / Modeling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18488"/>
            <a:ext cx="132588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CONV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618488"/>
            <a:ext cx="388620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74519" y="1691640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Conv / FC / DWConv MAC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618488"/>
            <a:ext cx="598932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691640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INT8x8: 16,384 MAC/cyc; 62.3 TOPS @1.9GHz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002536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075688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Requant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2002536"/>
            <a:ext cx="3886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74519" y="2075688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INT32/FP post-processing, clamp, scale/shift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0" y="2002536"/>
            <a:ext cx="59893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075688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16 CONV-chain lanes; Payload W 128 B/cyc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386584"/>
            <a:ext cx="132588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459736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EWE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2386584"/>
            <a:ext cx="388620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74519" y="2459736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Add/Mul/Sub/activation/math/softmax pieces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0" y="2386584"/>
            <a:ext cx="598932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2459736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64 elem/cyc; R 256 B/cyc, W 128 B/cyc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770632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843784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POOL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2770632"/>
            <a:ext cx="3886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843784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Max/Avg/Global pooling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5000" y="2770632"/>
            <a:ext cx="59893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2843784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R 256 B/cyc, W 128 B/cyc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54680"/>
            <a:ext cx="132588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227832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TNPS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3154680"/>
            <a:ext cx="388620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19" y="3227832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Transpose/Slice/Space-depth/Layout materialize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0" y="3154680"/>
            <a:ext cx="598932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227832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128 B/cyc read + 128 B/cyc write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38728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3611880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UDMA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3538728"/>
            <a:ext cx="3886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74519" y="3611880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DRAM↔L1 copy, prefetch, store, ACT codec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5000" y="3538728"/>
            <a:ext cx="59893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0" y="3611880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LPDDR model peak ≈85.3 GB/s external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22776"/>
            <a:ext cx="132588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995928"/>
            <a:ext cx="123443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L1Mesh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3922776"/>
            <a:ext cx="388620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19" y="3995928"/>
            <a:ext cx="37947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3 MB banked scratchpad / routing fabric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15000" y="3922776"/>
            <a:ext cx="5989320" cy="384048"/>
          </a:xfrm>
          <a:prstGeom prst="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0" y="3995928"/>
            <a:ext cx="5897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50" b="0">
                <a:solidFill>
                  <a:srgbClr val="191C21"/>
                </a:solidFill>
              </a:rPr>
              <a:t>16 banks x 16B per SRAM cycle backend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70916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91C21"/>
                </a:solidFill>
              </a:defRPr>
            </a:pPr>
            <a:r>
              <a:t>Throughput numbers are the modeling/spec contract; synthesis must later replace abstract timing with RTL and physical constraints.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5. SystemC and Profiling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What exists in the repository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34290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30998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183458"/>
                </a:solidFill>
              </a:rPr>
              <a:t>Compiler /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3108960" cy="97840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TFLite to MDLA descriptor program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GraphMeta producer/consumer sidecar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Opcode lowering for CONV/EWE/POOL/TNPS/UDMA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Functional reference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4290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371600"/>
            <a:ext cx="30998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398E5A"/>
                </a:solidFill>
              </a:rPr>
              <a:t>SystemC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91640"/>
            <a:ext cx="3108960" cy="97840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Command engine dispatch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L1Mesh timing modes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Engine-level busy cycles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Wait/signal tag 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34440"/>
            <a:ext cx="324612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371600"/>
            <a:ext cx="291693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00897B"/>
                </a:solidFill>
              </a:rPr>
              <a:t>Profile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1691640"/>
            <a:ext cx="2926079" cy="97840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Layer table: cycle, DRAM, SRAM, flow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Fast / conflict / mesh reports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Gantt waveform per engine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Flow ID and TNPS lane added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105156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The model is designed for performance exploration: it exposes memory traffic, engine overlap, fusion boundaries, and regressions quickly.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The profile report is now used as the primary debug surface: if a layer is fused, it shares a flow ID with its producer/consumer chain.</a:t>
            </a:r>
          </a:p>
          <a:p>
            <a:pPr>
              <a:spcAft>
                <a:spcPts val="700"/>
              </a:spcAft>
              <a:defRPr sz="1400">
                <a:solidFill>
                  <a:srgbClr val="191C21"/>
                </a:solidFill>
              </a:defRPr>
            </a:pPr>
            <a:r>
              <a:t>Latest commit included TNPS layout engine, profile/Gantt TNPS lane, spec update, and PAD-to-CONV fusion.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6. Performance Tuning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From DRAM round trips to on-chip microblock handoff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502920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71600"/>
            <a:ext cx="47000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183458"/>
                </a:solidFill>
              </a:rPr>
              <a:t>1. Baseline profiling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709160" cy="429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Per-layer execution; large intermediate DRAM writes visible in profile.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34440"/>
            <a:ext cx="502920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371600"/>
            <a:ext cx="47000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00897B"/>
                </a:solidFill>
              </a:rPr>
              <a:t>2. Flow 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4709160" cy="429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Added flow ID so fused chains are visible and unfused layers remain layer=flow.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60320"/>
            <a:ext cx="502920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97479"/>
            <a:ext cx="47000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183458"/>
                </a:solidFill>
              </a:rPr>
              <a:t>3. Tiling and microblocks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4709160" cy="429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Conv/FC/EWE/POOL handoff through L1; reduce intermediate DRAM R/W.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560320"/>
            <a:ext cx="502920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697479"/>
            <a:ext cx="47000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00897B"/>
                </a:solidFill>
              </a:rPr>
              <a:t>4. Overlap scheduling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017520"/>
            <a:ext cx="4709160" cy="429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Allow different engines to run concurrently when dependencies permit.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86200"/>
            <a:ext cx="502920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023360"/>
            <a:ext cx="47000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183458"/>
                </a:solidFill>
              </a:rPr>
              <a:t>5. Layout offload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43400"/>
            <a:ext cx="4709160" cy="429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Moved transpose/slice/concat/space-depth style ops to TNPS lane.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86200"/>
            <a:ext cx="5029200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4023360"/>
            <a:ext cx="47000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00897B"/>
                </a:solidFill>
              </a:rPr>
              <a:t>6. PAD→CONV fold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43400"/>
            <a:ext cx="4709160" cy="429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Eliminated PAD materialization before 3x3 CONV; sd_decoder slice improved 18.1%.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7. Case Study: sd_decoder_quant_L152_L191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L16 PAD bottleneck resolved by PAD→CONV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1920240" cy="960120"/>
          </a:xfrm>
          <a:prstGeom prst="roundRect">
            <a:avLst/>
          </a:prstGeom>
          <a:solidFill>
            <a:srgbClr val="B8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344168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0.456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819656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Before fast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234440"/>
            <a:ext cx="1920240" cy="960120"/>
          </a:xfrm>
          <a:prstGeom prst="roundRect">
            <a:avLst/>
          </a:prstGeom>
          <a:solidFill>
            <a:srgbClr val="39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62072" y="1344168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0.373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2072" y="1819656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After fast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2040" y="1234440"/>
            <a:ext cx="1920240" cy="9601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1344168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18.1%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1819656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Fast cycle reduction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95160" y="1234440"/>
            <a:ext cx="1920240" cy="960120"/>
          </a:xfrm>
          <a:prstGeom prst="roundRect">
            <a:avLst/>
          </a:prstGeom>
          <a:solidFill>
            <a:srgbClr val="1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68312" y="1344168"/>
            <a:ext cx="177393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1819656"/>
            <a:ext cx="177393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L16 DRAM R/W after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606040"/>
            <a:ext cx="502920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Original L16 was a PAD materialization: 55,978 cycles, ~1.09 MB DRAM read and write.</a:t>
            </a:r>
          </a:p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It could not overlap with L15 because L16 depends on L15 output.</a:t>
            </a:r>
          </a:p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The correct optimization is to remove the materialized PAD and fold the halo into L17 CONV.</a:t>
            </a:r>
          </a:p>
          <a:p>
            <a:pPr>
              <a:spcAft>
                <a:spcPts val="700"/>
              </a:spcAft>
              <a:defRPr sz="1300">
                <a:solidFill>
                  <a:srgbClr val="191C21"/>
                </a:solidFill>
              </a:defRPr>
            </a:pPr>
            <a:r>
              <a:t>Result: L16 becomes 0-cycle / 0-DRAM, and L17 joins the same flow as the producer chain.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0" y="2606040"/>
          <a:ext cx="448056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8. Regression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Current functional and profile confidence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188720"/>
            <a:ext cx="2011680" cy="960120"/>
          </a:xfrm>
          <a:prstGeom prst="roundRect">
            <a:avLst/>
          </a:prstGeom>
          <a:solidFill>
            <a:srgbClr val="39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298448"/>
            <a:ext cx="186537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51/51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773936"/>
            <a:ext cx="186537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ETHZ_V6 fast-only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188720"/>
            <a:ext cx="2011680" cy="960120"/>
          </a:xfrm>
          <a:prstGeom prst="roundRect">
            <a:avLst/>
          </a:prstGeom>
          <a:solidFill>
            <a:srgbClr val="39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298448"/>
            <a:ext cx="186537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1773936"/>
            <a:ext cx="186537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Function FAIL in ETHZ_V6 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188720"/>
            <a:ext cx="2011680" cy="9601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0952" y="1298448"/>
            <a:ext cx="186537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11/11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1773936"/>
            <a:ext cx="186537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Hotspot all modes 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188720"/>
            <a:ext cx="2011680" cy="960120"/>
          </a:xfrm>
          <a:prstGeom prst="roundRect">
            <a:avLst/>
          </a:prstGeom>
          <a:solidFill>
            <a:srgbClr val="1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298448"/>
            <a:ext cx="1865376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51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6952" y="1773936"/>
            <a:ext cx="186537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</a:rPr>
              <a:t>Pattern regression recorded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560320"/>
            <a:ext cx="1033272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ETHZ_V6 new-op record: fast-only 51/51 OK, Function FAIL 0, Skipped OP 0.</a:t>
            </a:r>
          </a:p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Hotspot regression: 11/11 OK for fast, conflict, and mesh profiles.</a:t>
            </a:r>
          </a:p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sd_decoder_quant_L152_L191 latest: fast 0.373 ms, conflict 0.506 ms, mesh 0.541 ms, all OK.</a:t>
            </a:r>
          </a:p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Regression reports are stored under batch/output and profile indexes under batch/profile_*.html.</a:t>
            </a:r>
          </a:p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Caution: conflict/mesh have not been uniformly rerun for every ETHZ_V6 pattern after every change; fast is the current gate for broad ETHZ_V6.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863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2600" b="1">
                <a:solidFill>
                  <a:srgbClr val="183458"/>
                </a:solidFill>
              </a:rPr>
              <a:t>9. Gap to Synthesizable RTL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509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b="0">
                <a:solidFill>
                  <a:srgbClr val="5E6875"/>
                </a:solidFill>
              </a:rPr>
              <a:t>What remains before true hardware sign-off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201400" cy="274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342900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30998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B84141"/>
                </a:solidFill>
              </a:rPr>
              <a:t>Microarchitecture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3108960" cy="10698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Translate TLM engines to RTL state machines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Finalize descriptor CSR/ring interfaces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Define reset/clock/power domains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Harden TNPS and UDMA datapaths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42900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371600"/>
            <a:ext cx="30998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E08430"/>
                </a:solidFill>
              </a:rPr>
              <a:t>Timing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91640"/>
            <a:ext cx="3108960" cy="10698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Cycle-accurate L1Mesh bank arbitration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Real DRAM controller behavior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Backpressure and FIFO sizing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Clock-domain and SRAM macro timing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34440"/>
            <a:ext cx="324612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371600"/>
            <a:ext cx="291693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300" b="1">
                <a:solidFill>
                  <a:srgbClr val="183458"/>
                </a:solidFill>
              </a:rPr>
              <a:t>Verification 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1691640"/>
            <a:ext cx="2926079" cy="10698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Golden model and random tests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Coverage for all op modes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RTL/SystemC co-simulation</a:t>
            </a:r>
          </a:p>
          <a:p>
            <a:pPr>
              <a:spcAft>
                <a:spcPts val="700"/>
              </a:spcAft>
              <a:defRPr sz="1100">
                <a:solidFill>
                  <a:srgbClr val="191C21"/>
                </a:solidFill>
              </a:defRPr>
            </a:pPr>
            <a:r>
              <a:t>Full fast/conflict/mesh regression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46988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Highest-value next engineering gaps: true multi-source TNPS CONCAT, PAD/PACK/UNPACK/TILE true kernels, D2SPACE/add/maxpool/softmax intermediate write reduction, and L1Mesh contention calibration.</a:t>
            </a:r>
          </a:p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The current model is a strong architecture/performance exploration platform, not yet a synthesizable implementation.</a:t>
            </a:r>
          </a:p>
          <a:p>
            <a:pPr>
              <a:spcAft>
                <a:spcPts val="700"/>
              </a:spcAft>
              <a:defRPr sz="1350">
                <a:solidFill>
                  <a:srgbClr val="191C21"/>
                </a:solidFill>
              </a:defRPr>
            </a:pPr>
            <a:r>
              <a:t>Recommended next milestone: freeze descriptor ABI, build RTL skeleton per engine, and keep SystemC as the performance/reference oracle.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800" b="0">
                <a:solidFill>
                  <a:srgbClr val="5E6875"/>
                </a:solidFill>
              </a:rPr>
              <a:t>MDLA7 SystemC Performance Model | internal technical briefing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4652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00" b="0">
                <a:solidFill>
                  <a:srgbClr val="5E6875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