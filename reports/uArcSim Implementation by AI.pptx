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8" r:id="rId7"/>
    <p:sldId id="260" r:id="rId8"/>
    <p:sldId id="267" r:id="rId9"/>
    <p:sldId id="261" r:id="rId10"/>
    <p:sldId id="262" r:id="rId11"/>
    <p:sldId id="270" r:id="rId12"/>
    <p:sldId id="271" r:id="rId13"/>
    <p:sldId id="263" r:id="rId14"/>
    <p:sldId id="269" r:id="rId15"/>
  </p:sldIdLst>
  <p:sldSz cx="12192000" cy="6858000"/>
  <p:notesSz cx="7559675" cy="106918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/>
    <p:restoredTop sz="94720"/>
  </p:normalViewPr>
  <p:slideViewPr>
    <p:cSldViewPr snapToGrid="0">
      <p:cViewPr varScale="1">
        <p:scale>
          <a:sx n="146" d="100"/>
          <a:sy n="146" d="100"/>
        </p:scale>
        <p:origin x="20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D03B87-28BB-4B29-878C-F94DE7FCB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D4F9C1-FEA0-46DE-B61C-B4FCA5518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CB23B-2CF5-4EFB-BEF5-94DBE2FA12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17B82B-FD86-41EC-95F2-6E5DE0F4A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章節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DDA64A-4686-4C86-8A17-7BFF6EB08D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7841FF-FA02-4038-A747-EE0BFE6C00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3DE28-8C81-45E3-8BED-A37D133E87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60C257-7648-4D7A-B551-C0F39FCA1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D3D3D7-43FB-4982-89A7-9287BB0932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請按這裡編輯題名文字格式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A88054-E75E-4736-9D7E-AF284CF4FD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圖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按一下圖示以新增圖片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41BA4-FF1A-4D19-9989-5A87345E7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3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80920" y="2561040"/>
            <a:ext cx="10429920" cy="250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uArcSim Implementation by AI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WYLin, </a:t>
            </a:r>
            <a:r>
              <a:rPr lang="en-US" sz="32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2026.05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/>
          <p:cNvSpPr/>
          <p:nvPr/>
        </p:nvSpPr>
        <p:spPr>
          <a:xfrm>
            <a:off x="901020" y="1059963"/>
            <a:ext cx="10389960" cy="49615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: MDLA7 L1Mesh AA Model and Test Framework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AI Tool :  Claude and Codex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Input :  Block Diagram (</a:t>
            </a:r>
            <a:r>
              <a:rPr lang="en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Hand sketch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  and Throughout Table (md)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Human Resource :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zh-TW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： 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1 Week (WY)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:  3 Weeks (PJ)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Output : E2E Function/Performance Verification  (.</a:t>
            </a:r>
            <a:r>
              <a:rPr lang="en-US" sz="20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tflit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Compiler 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sz="20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SystemC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Tensorflow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Lite Parser, Slicing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Compiler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Function &amp; TLM C-model (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SystemC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Profile (html), Probe (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cvs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), Waveform (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vcd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Verification Batch Tool (Python)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Document (md, pdf, 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drawio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 </a:t>
            </a:r>
            <a:r>
              <a:rPr lang="en-US" altLang="zh-TW" sz="2000" b="1" dirty="0">
                <a:solidFill>
                  <a:srgbClr val="183458"/>
                </a:solidFill>
              </a:rPr>
              <a:t>Methodology</a:t>
            </a:r>
            <a:endParaRPr lang="en-US" sz="20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</a:rPr>
              <a:t>To-do</a:t>
            </a:r>
          </a:p>
          <a:p>
            <a:pPr marL="800280" lvl="1" indent="-34308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altLang="zh-TW" b="1" dirty="0">
                <a:solidFill>
                  <a:srgbClr val="183458"/>
                </a:solidFill>
              </a:rPr>
              <a:t>Gap to Synthesizable RTL</a:t>
            </a:r>
          </a:p>
          <a:p>
            <a:pPr marL="800280" lvl="1" indent="-34308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altLang="zh-TW" b="1" dirty="0">
                <a:solidFill>
                  <a:srgbClr val="183458"/>
                </a:solidFill>
                <a:latin typeface="Arial"/>
              </a:rPr>
              <a:t>MDLA 2 Cores System</a:t>
            </a:r>
            <a:endParaRPr lang="en-US" altLang="zh-TW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/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Execution Summary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344030E-EB4F-E3B4-DF91-DCBB0464E45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28600"/>
            <a:ext cx="667476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System Block Diagram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6"/>
          <p:cNvSpPr/>
          <p:nvPr/>
        </p:nvSpPr>
        <p:spPr>
          <a:xfrm>
            <a:off x="151560" y="1729440"/>
            <a:ext cx="1092240" cy="545040"/>
          </a:xfrm>
          <a:prstGeom prst="roundRect">
            <a:avLst>
              <a:gd name="adj" fmla="val 16667"/>
            </a:avLst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9"/>
          <p:cNvSpPr/>
          <p:nvPr/>
        </p:nvSpPr>
        <p:spPr>
          <a:xfrm>
            <a:off x="2541960" y="1728360"/>
            <a:ext cx="8826840" cy="545040"/>
          </a:xfrm>
          <a:prstGeom prst="roundRect">
            <a:avLst>
              <a:gd name="adj" fmla="val 16667"/>
            </a:avLst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2611800" y="1828800"/>
            <a:ext cx="8687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12"/>
          <p:cNvCxnSpPr>
            <a:stCxn id="65" idx="3"/>
          </p:cNvCxnSpPr>
          <p:nvPr/>
        </p:nvCxnSpPr>
        <p:spPr>
          <a:xfrm>
            <a:off x="1243800" y="2001960"/>
            <a:ext cx="1298160" cy="3240"/>
          </a:xfrm>
          <a:prstGeom prst="straightConnector1">
            <a:avLst/>
          </a:prstGeom>
          <a:ln w="19050">
            <a:solidFill>
              <a:srgbClr val="5E6875"/>
            </a:solidFill>
            <a:prstDash val="dash"/>
          </a:ln>
        </p:spPr>
      </p:cxnSp>
      <p:sp>
        <p:nvSpPr>
          <p:cNvPr id="70" name="TextBox 13"/>
          <p:cNvSpPr/>
          <p:nvPr/>
        </p:nvSpPr>
        <p:spPr>
          <a:xfrm>
            <a:off x="1523520" y="1797675"/>
            <a:ext cx="756000" cy="40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1T</a:t>
            </a:r>
            <a:endParaRPr lang="en-US" sz="1200" b="1" dirty="0">
              <a:solidFill>
                <a:srgbClr val="5E6875"/>
              </a:solidFill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Descriptor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/>
          <p:cNvSpPr/>
          <p:nvPr/>
        </p:nvSpPr>
        <p:spPr>
          <a:xfrm>
            <a:off x="648049" y="264960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734089" y="305208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/>
          <p:cNvSpPr/>
          <p:nvPr/>
        </p:nvSpPr>
        <p:spPr>
          <a:xfrm>
            <a:off x="3048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8"/>
          <p:cNvSpPr/>
          <p:nvPr/>
        </p:nvSpPr>
        <p:spPr>
          <a:xfrm>
            <a:off x="3134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20"/>
          <p:cNvSpPr/>
          <p:nvPr/>
        </p:nvSpPr>
        <p:spPr>
          <a:xfrm>
            <a:off x="4866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4952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EWE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3"/>
          <p:cNvSpPr/>
          <p:nvPr/>
        </p:nvSpPr>
        <p:spPr>
          <a:xfrm>
            <a:off x="6684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4"/>
          <p:cNvSpPr/>
          <p:nvPr/>
        </p:nvSpPr>
        <p:spPr>
          <a:xfrm>
            <a:off x="6770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POOL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6"/>
          <p:cNvSpPr/>
          <p:nvPr/>
        </p:nvSpPr>
        <p:spPr>
          <a:xfrm>
            <a:off x="8502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7"/>
          <p:cNvSpPr/>
          <p:nvPr/>
        </p:nvSpPr>
        <p:spPr>
          <a:xfrm>
            <a:off x="858816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TNPS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1"/>
          <p:cNvCxnSpPr/>
          <p:nvPr/>
        </p:nvCxnSpPr>
        <p:spPr>
          <a:xfrm>
            <a:off x="3835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2" name="TextBox 32"/>
          <p:cNvSpPr/>
          <p:nvPr/>
        </p:nvSpPr>
        <p:spPr>
          <a:xfrm>
            <a:off x="3616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33"/>
          <p:cNvCxnSpPr/>
          <p:nvPr/>
        </p:nvCxnSpPr>
        <p:spPr>
          <a:xfrm>
            <a:off x="5653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4" name="TextBox 34"/>
          <p:cNvSpPr/>
          <p:nvPr/>
        </p:nvSpPr>
        <p:spPr>
          <a:xfrm>
            <a:off x="5434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Connector 35"/>
          <p:cNvCxnSpPr/>
          <p:nvPr/>
        </p:nvCxnSpPr>
        <p:spPr>
          <a:xfrm>
            <a:off x="7471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6" name="TextBox 36"/>
          <p:cNvSpPr/>
          <p:nvPr/>
        </p:nvSpPr>
        <p:spPr>
          <a:xfrm>
            <a:off x="7252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nector 37"/>
          <p:cNvCxnSpPr/>
          <p:nvPr/>
        </p:nvCxnSpPr>
        <p:spPr>
          <a:xfrm>
            <a:off x="9289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8" name="TextBox 38"/>
          <p:cNvSpPr/>
          <p:nvPr/>
        </p:nvSpPr>
        <p:spPr>
          <a:xfrm>
            <a:off x="9070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9"/>
          <p:cNvSpPr/>
          <p:nvPr/>
        </p:nvSpPr>
        <p:spPr>
          <a:xfrm>
            <a:off x="648049" y="4243320"/>
            <a:ext cx="1572840" cy="65412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0"/>
          <p:cNvSpPr/>
          <p:nvPr/>
        </p:nvSpPr>
        <p:spPr>
          <a:xfrm>
            <a:off x="717889" y="43441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L1Mesh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1"/>
          <p:cNvSpPr/>
          <p:nvPr/>
        </p:nvSpPr>
        <p:spPr>
          <a:xfrm>
            <a:off x="753169" y="4604040"/>
            <a:ext cx="13629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2"/>
          <p:cNvSpPr/>
          <p:nvPr/>
        </p:nvSpPr>
        <p:spPr>
          <a:xfrm>
            <a:off x="3153600" y="4244760"/>
            <a:ext cx="8215200" cy="65412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43"/>
          <p:cNvSpPr/>
          <p:nvPr/>
        </p:nvSpPr>
        <p:spPr>
          <a:xfrm>
            <a:off x="3223440" y="434556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L1_Manager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Connector 45"/>
          <p:cNvCxnSpPr/>
          <p:nvPr/>
        </p:nvCxnSpPr>
        <p:spPr>
          <a:xfrm flipV="1">
            <a:off x="134716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5" name="TextBox 46"/>
          <p:cNvSpPr/>
          <p:nvPr/>
        </p:nvSpPr>
        <p:spPr>
          <a:xfrm>
            <a:off x="276799" y="3818520"/>
            <a:ext cx="135432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ACT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47"/>
          <p:cNvCxnSpPr/>
          <p:nvPr/>
        </p:nvCxnSpPr>
        <p:spPr>
          <a:xfrm flipV="1">
            <a:off x="169672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7" name="TextBox 48"/>
          <p:cNvSpPr/>
          <p:nvPr/>
        </p:nvSpPr>
        <p:spPr>
          <a:xfrm>
            <a:off x="1621572" y="3824640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WGT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Connector 49"/>
          <p:cNvCxnSpPr/>
          <p:nvPr/>
        </p:nvCxnSpPr>
        <p:spPr>
          <a:xfrm>
            <a:off x="3835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99" name="TextBox 50"/>
          <p:cNvSpPr/>
          <p:nvPr/>
        </p:nvSpPr>
        <p:spPr>
          <a:xfrm>
            <a:off x="3749082" y="3837214"/>
            <a:ext cx="698760" cy="3140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 (16Bytes)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51"/>
          <p:cNvCxnSpPr/>
          <p:nvPr/>
        </p:nvCxnSpPr>
        <p:spPr>
          <a:xfrm>
            <a:off x="5653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1" name="TextBox 52"/>
          <p:cNvSpPr/>
          <p:nvPr/>
        </p:nvSpPr>
        <p:spPr>
          <a:xfrm>
            <a:off x="553158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Connector 53"/>
          <p:cNvCxnSpPr/>
          <p:nvPr/>
        </p:nvCxnSpPr>
        <p:spPr>
          <a:xfrm>
            <a:off x="7471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3" name="TextBox 54"/>
          <p:cNvSpPr/>
          <p:nvPr/>
        </p:nvSpPr>
        <p:spPr>
          <a:xfrm>
            <a:off x="7398907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55"/>
          <p:cNvCxnSpPr/>
          <p:nvPr/>
        </p:nvCxnSpPr>
        <p:spPr>
          <a:xfrm>
            <a:off x="9289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5" name="TextBox 56"/>
          <p:cNvSpPr/>
          <p:nvPr/>
        </p:nvSpPr>
        <p:spPr>
          <a:xfrm>
            <a:off x="915786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57"/>
          <p:cNvCxnSpPr>
            <a:cxnSpLocks/>
            <a:stCxn id="89" idx="3"/>
          </p:cNvCxnSpPr>
          <p:nvPr/>
        </p:nvCxnSpPr>
        <p:spPr>
          <a:xfrm>
            <a:off x="2220889" y="4570380"/>
            <a:ext cx="933071" cy="162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7" name="TextBox 58"/>
          <p:cNvSpPr/>
          <p:nvPr/>
        </p:nvSpPr>
        <p:spPr>
          <a:xfrm>
            <a:off x="2326009" y="464838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59"/>
          <p:cNvSpPr/>
          <p:nvPr/>
        </p:nvSpPr>
        <p:spPr>
          <a:xfrm>
            <a:off x="3153600" y="5276520"/>
            <a:ext cx="8215200" cy="443292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0"/>
          <p:cNvSpPr/>
          <p:nvPr/>
        </p:nvSpPr>
        <p:spPr>
          <a:xfrm>
            <a:off x="3223440" y="537732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UDMA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Connector 62"/>
          <p:cNvCxnSpPr/>
          <p:nvPr/>
        </p:nvCxnSpPr>
        <p:spPr>
          <a:xfrm>
            <a:off x="7261200" y="4898880"/>
            <a:ext cx="360" cy="37800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11" name="TextBox 63"/>
          <p:cNvSpPr/>
          <p:nvPr/>
        </p:nvSpPr>
        <p:spPr>
          <a:xfrm>
            <a:off x="7252560" y="501586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64"/>
          <p:cNvSpPr/>
          <p:nvPr/>
        </p:nvSpPr>
        <p:spPr>
          <a:xfrm>
            <a:off x="3153600" y="6193549"/>
            <a:ext cx="8215200" cy="402120"/>
          </a:xfrm>
          <a:prstGeom prst="roundRect">
            <a:avLst>
              <a:gd name="adj" fmla="val 16667"/>
            </a:avLst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5"/>
          <p:cNvSpPr/>
          <p:nvPr/>
        </p:nvSpPr>
        <p:spPr>
          <a:xfrm>
            <a:off x="3223440" y="6293989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GB DRAM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67"/>
          <p:cNvCxnSpPr>
            <a:cxnSpLocks/>
          </p:cNvCxnSpPr>
          <p:nvPr/>
        </p:nvCxnSpPr>
        <p:spPr>
          <a:xfrm>
            <a:off x="699912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cxnSp>
        <p:nvCxnSpPr>
          <p:cNvPr id="115" name="Connector 68"/>
          <p:cNvCxnSpPr>
            <a:cxnSpLocks/>
          </p:cNvCxnSpPr>
          <p:nvPr/>
        </p:nvCxnSpPr>
        <p:spPr>
          <a:xfrm>
            <a:off x="752364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16" name="TextBox 69"/>
          <p:cNvSpPr/>
          <p:nvPr/>
        </p:nvSpPr>
        <p:spPr>
          <a:xfrm>
            <a:off x="6407087" y="5891051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0"/>
          <p:cNvSpPr/>
          <p:nvPr/>
        </p:nvSpPr>
        <p:spPr>
          <a:xfrm>
            <a:off x="7660987" y="588060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1"/>
          <p:cNvSpPr/>
          <p:nvPr/>
        </p:nvSpPr>
        <p:spPr>
          <a:xfrm>
            <a:off x="1143360" y="5670720"/>
            <a:ext cx="14853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Legend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72"/>
          <p:cNvCxnSpPr/>
          <p:nvPr/>
        </p:nvCxnSpPr>
        <p:spPr>
          <a:xfrm>
            <a:off x="1186920" y="5981040"/>
            <a:ext cx="481320" cy="360"/>
          </a:xfrm>
          <a:prstGeom prst="straightConnector1">
            <a:avLst/>
          </a:prstGeom>
          <a:ln w="29209">
            <a:solidFill>
              <a:srgbClr val="2E65B4"/>
            </a:solidFill>
          </a:ln>
        </p:spPr>
      </p:cxnSp>
      <p:sp>
        <p:nvSpPr>
          <p:cNvPr id="120" name="TextBox 73"/>
          <p:cNvSpPr/>
          <p:nvPr/>
        </p:nvSpPr>
        <p:spPr>
          <a:xfrm>
            <a:off x="1729080" y="5880600"/>
            <a:ext cx="12232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Payload lanes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Connector 74"/>
          <p:cNvCxnSpPr/>
          <p:nvPr/>
        </p:nvCxnSpPr>
        <p:spPr>
          <a:xfrm>
            <a:off x="1186920" y="6240960"/>
            <a:ext cx="481320" cy="360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22" name="TextBox 75"/>
          <p:cNvSpPr/>
          <p:nvPr/>
        </p:nvSpPr>
        <p:spPr>
          <a:xfrm>
            <a:off x="1729080" y="6140520"/>
            <a:ext cx="14418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1T config/control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5DEBC-C01E-5EFD-55C0-2EABC5775F4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" name="Connector 49">
            <a:extLst>
              <a:ext uri="{FF2B5EF4-FFF2-40B4-BE49-F238E27FC236}">
                <a16:creationId xmlns:a16="http://schemas.microsoft.com/office/drawing/2014/main" id="{70F154A5-F2A1-7B19-F0F8-9F2D83129B0C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220889" y="3131820"/>
            <a:ext cx="827951" cy="14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7" name="TextBox 48">
            <a:extLst>
              <a:ext uri="{FF2B5EF4-FFF2-40B4-BE49-F238E27FC236}">
                <a16:creationId xmlns:a16="http://schemas.microsoft.com/office/drawing/2014/main" id="{24E4CD78-6079-C9A5-1D10-426936B3DA25}"/>
              </a:ext>
            </a:extLst>
          </p:cNvPr>
          <p:cNvSpPr/>
          <p:nvPr/>
        </p:nvSpPr>
        <p:spPr>
          <a:xfrm>
            <a:off x="2141944" y="2895465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4096b/</a:t>
            </a:r>
            <a:r>
              <a:rPr lang="en-US" sz="900" b="1" u="none" strike="noStrike" dirty="0" err="1">
                <a:solidFill>
                  <a:srgbClr val="2E65B4"/>
                </a:solidFill>
                <a:effectLst/>
                <a:uFillTx/>
                <a:latin typeface="Calibri"/>
              </a:rPr>
              <a:t>cyc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Module Functions and Throughput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群組 55"/>
          <p:cNvGrpSpPr/>
          <p:nvPr/>
        </p:nvGrpSpPr>
        <p:grpSpPr>
          <a:xfrm>
            <a:off x="501840" y="1080000"/>
            <a:ext cx="7058160" cy="4710960"/>
            <a:chOff x="501840" y="1080000"/>
            <a:chExt cx="7058160" cy="4710960"/>
          </a:xfrm>
        </p:grpSpPr>
        <p:sp>
          <p:nvSpPr>
            <p:cNvPr id="126" name="Rectangle 3"/>
            <p:cNvSpPr/>
            <p:nvPr/>
          </p:nvSpPr>
          <p:spPr>
            <a:xfrm>
              <a:off x="501840" y="1080000"/>
              <a:ext cx="7058160" cy="3888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6920" rIns="36720" bIns="1692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7" name="Rectangle 4"/>
            <p:cNvSpPr/>
            <p:nvPr/>
          </p:nvSpPr>
          <p:spPr>
            <a:xfrm>
              <a:off x="501840" y="1380240"/>
              <a:ext cx="83520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530640" y="1497960"/>
              <a:ext cx="77760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Module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ctangle 6"/>
            <p:cNvSpPr/>
            <p:nvPr/>
          </p:nvSpPr>
          <p:spPr>
            <a:xfrm>
              <a:off x="1337400" y="1380240"/>
              <a:ext cx="244872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0" name="TextBox 7"/>
            <p:cNvSpPr/>
            <p:nvPr/>
          </p:nvSpPr>
          <p:spPr>
            <a:xfrm>
              <a:off x="1366200" y="1497960"/>
              <a:ext cx="239076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Function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8"/>
            <p:cNvSpPr/>
            <p:nvPr/>
          </p:nvSpPr>
          <p:spPr>
            <a:xfrm>
              <a:off x="3786120" y="1380240"/>
              <a:ext cx="377388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2" name="TextBox 9"/>
            <p:cNvSpPr/>
            <p:nvPr/>
          </p:nvSpPr>
          <p:spPr>
            <a:xfrm>
              <a:off x="3814920" y="1497960"/>
              <a:ext cx="371628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Throughput / Modeling Point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10"/>
            <p:cNvSpPr/>
            <p:nvPr/>
          </p:nvSpPr>
          <p:spPr>
            <a:xfrm>
              <a:off x="501840" y="192924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530640" y="203436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12"/>
            <p:cNvSpPr/>
            <p:nvPr/>
          </p:nvSpPr>
          <p:spPr>
            <a:xfrm>
              <a:off x="1337400" y="192924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6" name="TextBox 13"/>
            <p:cNvSpPr/>
            <p:nvPr/>
          </p:nvSpPr>
          <p:spPr>
            <a:xfrm>
              <a:off x="1366200" y="203436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 / FC / DWConv MAC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14"/>
            <p:cNvSpPr/>
            <p:nvPr/>
          </p:nvSpPr>
          <p:spPr>
            <a:xfrm>
              <a:off x="3786120" y="192924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8" name="TextBox 15"/>
            <p:cNvSpPr/>
            <p:nvPr/>
          </p:nvSpPr>
          <p:spPr>
            <a:xfrm>
              <a:off x="3814920" y="203436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INT8x8: 16,384 MAC/cyc; 62.3 TOPS @1.9GHz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16"/>
            <p:cNvSpPr/>
            <p:nvPr/>
          </p:nvSpPr>
          <p:spPr>
            <a:xfrm>
              <a:off x="501840" y="2478240"/>
              <a:ext cx="83520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530640" y="2583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Requant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18"/>
            <p:cNvSpPr/>
            <p:nvPr/>
          </p:nvSpPr>
          <p:spPr>
            <a:xfrm>
              <a:off x="1337400" y="2478240"/>
              <a:ext cx="244872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2" name="TextBox 19"/>
            <p:cNvSpPr/>
            <p:nvPr/>
          </p:nvSpPr>
          <p:spPr>
            <a:xfrm>
              <a:off x="1366200" y="2583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INT32/FP post-processing, clamp, scale/shift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0"/>
            <p:cNvSpPr/>
            <p:nvPr/>
          </p:nvSpPr>
          <p:spPr>
            <a:xfrm>
              <a:off x="3786120" y="2478240"/>
              <a:ext cx="377388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4" name="TextBox 21"/>
            <p:cNvSpPr/>
            <p:nvPr/>
          </p:nvSpPr>
          <p:spPr>
            <a:xfrm>
              <a:off x="3814920" y="2583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CONV-chain lanes; Payload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22"/>
            <p:cNvSpPr/>
            <p:nvPr/>
          </p:nvSpPr>
          <p:spPr>
            <a:xfrm>
              <a:off x="501840" y="3027600"/>
              <a:ext cx="83520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30640" y="3132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EWE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24"/>
            <p:cNvSpPr/>
            <p:nvPr/>
          </p:nvSpPr>
          <p:spPr>
            <a:xfrm>
              <a:off x="1337400" y="3027600"/>
              <a:ext cx="244872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8" name="TextBox 25"/>
            <p:cNvSpPr/>
            <p:nvPr/>
          </p:nvSpPr>
          <p:spPr>
            <a:xfrm>
              <a:off x="1366200" y="3132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Add/Mul/Sub/activation/math/softmax pieces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6"/>
            <p:cNvSpPr/>
            <p:nvPr/>
          </p:nvSpPr>
          <p:spPr>
            <a:xfrm>
              <a:off x="3786120" y="3027600"/>
              <a:ext cx="377388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0" name="TextBox 27"/>
            <p:cNvSpPr/>
            <p:nvPr/>
          </p:nvSpPr>
          <p:spPr>
            <a:xfrm>
              <a:off x="3814920" y="3132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 elem/cyc; 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8"/>
            <p:cNvSpPr/>
            <p:nvPr/>
          </p:nvSpPr>
          <p:spPr>
            <a:xfrm>
              <a:off x="501840" y="357660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2" name="TextBox 29"/>
            <p:cNvSpPr/>
            <p:nvPr/>
          </p:nvSpPr>
          <p:spPr>
            <a:xfrm>
              <a:off x="530640" y="3681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POOL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30"/>
            <p:cNvSpPr/>
            <p:nvPr/>
          </p:nvSpPr>
          <p:spPr>
            <a:xfrm>
              <a:off x="1337400" y="357660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4" name="TextBox 31"/>
            <p:cNvSpPr/>
            <p:nvPr/>
          </p:nvSpPr>
          <p:spPr>
            <a:xfrm>
              <a:off x="1366200" y="368100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Max/Avg/Global pooling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32"/>
            <p:cNvSpPr/>
            <p:nvPr/>
          </p:nvSpPr>
          <p:spPr>
            <a:xfrm>
              <a:off x="3786120" y="357660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6" name="TextBox 33"/>
            <p:cNvSpPr/>
            <p:nvPr/>
          </p:nvSpPr>
          <p:spPr>
            <a:xfrm>
              <a:off x="3814920" y="3681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34"/>
            <p:cNvSpPr/>
            <p:nvPr/>
          </p:nvSpPr>
          <p:spPr>
            <a:xfrm>
              <a:off x="501840" y="412452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8" name="TextBox 35"/>
            <p:cNvSpPr/>
            <p:nvPr/>
          </p:nvSpPr>
          <p:spPr>
            <a:xfrm>
              <a:off x="530640" y="4229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TNPS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36"/>
            <p:cNvSpPr/>
            <p:nvPr/>
          </p:nvSpPr>
          <p:spPr>
            <a:xfrm>
              <a:off x="1337400" y="412452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0" name="TextBox 37"/>
            <p:cNvSpPr/>
            <p:nvPr/>
          </p:nvSpPr>
          <p:spPr>
            <a:xfrm>
              <a:off x="1366200" y="4229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Transpose/Slice/Space-depth/Layout materialize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Rectangle 38"/>
            <p:cNvSpPr/>
            <p:nvPr/>
          </p:nvSpPr>
          <p:spPr>
            <a:xfrm>
              <a:off x="3786120" y="412452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2" name="TextBox 39"/>
            <p:cNvSpPr/>
            <p:nvPr/>
          </p:nvSpPr>
          <p:spPr>
            <a:xfrm>
              <a:off x="3814920" y="4229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128 B/cyc read + 128 B/cyc 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Rectangle 40"/>
            <p:cNvSpPr/>
            <p:nvPr/>
          </p:nvSpPr>
          <p:spPr>
            <a:xfrm>
              <a:off x="501840" y="467388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4" name="TextBox 41"/>
            <p:cNvSpPr/>
            <p:nvPr/>
          </p:nvSpPr>
          <p:spPr>
            <a:xfrm>
              <a:off x="530640" y="4778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UDMA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Rectangle 42"/>
            <p:cNvSpPr/>
            <p:nvPr/>
          </p:nvSpPr>
          <p:spPr>
            <a:xfrm>
              <a:off x="1337400" y="467388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6" name="TextBox 43"/>
            <p:cNvSpPr/>
            <p:nvPr/>
          </p:nvSpPr>
          <p:spPr>
            <a:xfrm>
              <a:off x="1366200" y="4778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DRAM↔L1 copy, prefetch, store, ACT codec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Rectangle 44"/>
            <p:cNvSpPr/>
            <p:nvPr/>
          </p:nvSpPr>
          <p:spPr>
            <a:xfrm>
              <a:off x="3786120" y="467388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8" name="TextBox 45"/>
            <p:cNvSpPr/>
            <p:nvPr/>
          </p:nvSpPr>
          <p:spPr>
            <a:xfrm>
              <a:off x="3814920" y="4778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LPDDR</a:t>
              </a:r>
              <a:r>
                <a:rPr lang="en-US" altLang="zh-TW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5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model peak ≈85.3 GB/s external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46"/>
            <p:cNvSpPr/>
            <p:nvPr/>
          </p:nvSpPr>
          <p:spPr>
            <a:xfrm>
              <a:off x="501840" y="522216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0" name="TextBox 47"/>
            <p:cNvSpPr/>
            <p:nvPr/>
          </p:nvSpPr>
          <p:spPr>
            <a:xfrm>
              <a:off x="530640" y="532692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L1Mesh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48"/>
            <p:cNvSpPr/>
            <p:nvPr/>
          </p:nvSpPr>
          <p:spPr>
            <a:xfrm>
              <a:off x="1337400" y="522216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2" name="TextBox 49"/>
            <p:cNvSpPr/>
            <p:nvPr/>
          </p:nvSpPr>
          <p:spPr>
            <a:xfrm>
              <a:off x="1366200" y="532692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banked scratchpad / routing fabric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50"/>
            <p:cNvSpPr/>
            <p:nvPr/>
          </p:nvSpPr>
          <p:spPr>
            <a:xfrm>
              <a:off x="3786120" y="522216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4" name="TextBox 51"/>
            <p:cNvSpPr/>
            <p:nvPr/>
          </p:nvSpPr>
          <p:spPr>
            <a:xfrm>
              <a:off x="3814920" y="532692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16 banks x 16B per SRAM cycle backend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5" name="TextBox 53"/>
          <p:cNvSpPr/>
          <p:nvPr/>
        </p:nvSpPr>
        <p:spPr>
          <a:xfrm>
            <a:off x="502920" y="6446520"/>
            <a:ext cx="7314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MDLA7 SystemC Performance Model | internal technical briefing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54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" name="群組 176"/>
          <p:cNvGrpSpPr/>
          <p:nvPr/>
        </p:nvGrpSpPr>
        <p:grpSpPr>
          <a:xfrm>
            <a:off x="7808400" y="540000"/>
            <a:ext cx="4251600" cy="1180440"/>
            <a:chOff x="7808400" y="540000"/>
            <a:chExt cx="4251600" cy="1180440"/>
          </a:xfrm>
        </p:grpSpPr>
        <p:sp>
          <p:nvSpPr>
            <p:cNvPr id="178" name="Rounded Rectangle 3"/>
            <p:cNvSpPr/>
            <p:nvPr/>
          </p:nvSpPr>
          <p:spPr>
            <a:xfrm>
              <a:off x="7808400" y="540000"/>
              <a:ext cx="4251600" cy="11804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00897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9" name="TextBox 4"/>
            <p:cNvSpPr/>
            <p:nvPr/>
          </p:nvSpPr>
          <p:spPr>
            <a:xfrm>
              <a:off x="7863840" y="666000"/>
              <a:ext cx="4068720" cy="31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897B"/>
                  </a:solidFill>
                  <a:effectLst/>
                  <a:uFillTx/>
                  <a:latin typeface="Calibri"/>
                </a:rPr>
                <a:t>System Parameters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TextBox 5"/>
            <p:cNvSpPr/>
            <p:nvPr/>
          </p:nvSpPr>
          <p:spPr>
            <a:xfrm>
              <a:off x="7890840" y="1033200"/>
              <a:ext cx="4032000" cy="58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 anchorCtr="1">
              <a:spAutoFit/>
            </a:bodyPr>
            <a:lstStyle/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1.9 GHz core | 62.3 TOPS INT8x8 baseline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L1Mesh SRAM | LPDDR5X-10667, dual x32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457200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64B descriptors via DRAM ring + MMIO doorbell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1" name="圖片 180"/>
          <p:cNvPicPr/>
          <p:nvPr/>
        </p:nvPicPr>
        <p:blipFill>
          <a:blip r:embed="rId2"/>
          <a:stretch/>
        </p:blipFill>
        <p:spPr>
          <a:xfrm rot="9600">
            <a:off x="8097480" y="1982520"/>
            <a:ext cx="199548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81"/>
          <p:cNvPicPr/>
          <p:nvPr/>
        </p:nvPicPr>
        <p:blipFill>
          <a:blip r:embed="rId3"/>
          <a:stretch/>
        </p:blipFill>
        <p:spPr>
          <a:xfrm>
            <a:off x="8203320" y="3960000"/>
            <a:ext cx="2596680" cy="110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Layer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to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3423" y="212793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graph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23" y="311549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tiler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3423" y="4093785"/>
            <a:ext cx="64061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F172A"/>
                </a:solidFill>
                <a:latin typeface="Aptos"/>
              </a:rPr>
              <a:t>Compiler + Command Engine ABI</a:t>
            </a:r>
            <a:r>
              <a:rPr lang="zh-TW" altLang="en-US" sz="1600" b="1" dirty="0">
                <a:solidFill>
                  <a:srgbClr val="0F172A"/>
                </a:solidFill>
                <a:latin typeface="Aptos"/>
              </a:rPr>
              <a:t> </a:t>
            </a:r>
            <a:r>
              <a:rPr lang="en-US" altLang="zh-TW" sz="1600" b="1" dirty="0">
                <a:solidFill>
                  <a:srgbClr val="0F172A"/>
                </a:solidFill>
                <a:latin typeface="Aptos"/>
              </a:rPr>
              <a:t>(Application Binary Interface)</a:t>
            </a:r>
            <a:endParaRPr sz="16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3423" y="509059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Command Engine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7538A15-2ED6-6095-3240-2488825343D5}"/>
              </a:ext>
            </a:extLst>
          </p:cNvPr>
          <p:cNvGrpSpPr/>
          <p:nvPr/>
        </p:nvGrpSpPr>
        <p:grpSpPr>
          <a:xfrm>
            <a:off x="1567543" y="1530135"/>
            <a:ext cx="4082144" cy="4517136"/>
            <a:chOff x="1030779" y="1506384"/>
            <a:chExt cx="3063240" cy="4517136"/>
          </a:xfrm>
        </p:grpSpPr>
        <p:sp>
          <p:nvSpPr>
            <p:cNvPr id="3" name="Rounded Rectangle 2"/>
            <p:cNvSpPr/>
            <p:nvPr/>
          </p:nvSpPr>
          <p:spPr>
            <a:xfrm>
              <a:off x="1030779" y="1506384"/>
              <a:ext cx="3063240" cy="566928"/>
            </a:xfrm>
            <a:prstGeom prst="roundRect">
              <a:avLst/>
            </a:prstGeom>
            <a:solidFill>
              <a:srgbClr val="E0F2FE"/>
            </a:solidFill>
            <a:ln w="16510">
              <a:solidFill>
                <a:srgbClr val="38BD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graph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365803" y="2091600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30779" y="2493936"/>
              <a:ext cx="3063240" cy="566928"/>
            </a:xfrm>
            <a:prstGeom prst="roundRect">
              <a:avLst/>
            </a:prstGeom>
            <a:solidFill>
              <a:srgbClr val="DBEAFE"/>
            </a:solidFill>
            <a:ln w="16510">
              <a:solidFill>
                <a:srgbClr val="60A5F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fuse / graph-level fuse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65803" y="3079152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30779" y="3481488"/>
              <a:ext cx="3063240" cy="566928"/>
            </a:xfrm>
            <a:prstGeom prst="roundRect">
              <a:avLst/>
            </a:prstGeom>
            <a:solidFill>
              <a:srgbClr val="DCFCE7"/>
            </a:solidFill>
            <a:ln w="16510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Tile split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5803" y="4066704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0779" y="4469040"/>
              <a:ext cx="3063240" cy="566928"/>
            </a:xfrm>
            <a:prstGeom prst="roundRect">
              <a:avLst/>
            </a:prstGeom>
            <a:solidFill>
              <a:srgbClr val="FEF3C7"/>
            </a:solidFill>
            <a:ln w="1651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 dirty="0">
                  <a:solidFill>
                    <a:srgbClr val="0F172A"/>
                  </a:solidFill>
                  <a:latin typeface="Aptos"/>
                </a:rPr>
                <a:t>Tile-level fuse / L1</a:t>
              </a:r>
              <a:r>
                <a:rPr lang="en-US" sz="1500" b="1" dirty="0">
                  <a:solidFill>
                    <a:srgbClr val="0F172A"/>
                  </a:solidFill>
                  <a:latin typeface="Aptos"/>
                </a:rPr>
                <a:t> SRAM</a:t>
              </a:r>
              <a:r>
                <a:rPr lang="zh-TW" altLang="en-US" sz="1500" b="1" dirty="0">
                  <a:solidFill>
                    <a:srgbClr val="0F172A"/>
                  </a:solidFill>
                  <a:latin typeface="Aptos"/>
                </a:rPr>
                <a:t> </a:t>
              </a:r>
              <a:r>
                <a:rPr sz="1500" b="1" dirty="0">
                  <a:solidFill>
                    <a:srgbClr val="0F172A"/>
                  </a:solidFill>
                  <a:latin typeface="Aptos"/>
                </a:rPr>
                <a:t> handoff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5803" y="5054256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30779" y="5456592"/>
              <a:ext cx="3063240" cy="566928"/>
            </a:xfrm>
            <a:prstGeom prst="roundRect">
              <a:avLst/>
            </a:prstGeom>
            <a:solidFill>
              <a:srgbClr val="FFE4E6"/>
            </a:solidFill>
            <a:ln w="16510">
              <a:solidFill>
                <a:srgbClr val="FB718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Microblock pipeline / wavefront</a:t>
              </a:r>
            </a:p>
          </p:txBody>
        </p:sp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9375AD7D-54E4-F434-6CAB-719DB2016631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4660-EC31-24B3-D6D3-66F0094B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9D1AFD-E08F-4494-2D8C-2715D4BFC31C}"/>
              </a:ext>
            </a:extLst>
          </p:cNvPr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Pipeline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Path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Strategy</a:t>
            </a:r>
            <a:endParaRPr lang="en" altLang="zh-TW" sz="3600" b="1" dirty="0">
              <a:solidFill>
                <a:srgbClr val="183458"/>
              </a:solidFill>
              <a:latin typeface="Calibri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3532EDE1-81A8-71EF-3E87-426BC70F4A0B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6532C96-42A0-3A4B-75C6-90A15FA7E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633911"/>
              </p:ext>
            </p:extLst>
          </p:nvPr>
        </p:nvGraphicFramePr>
        <p:xfrm>
          <a:off x="244457" y="1404666"/>
          <a:ext cx="11358284" cy="3624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48730">
                  <a:extLst>
                    <a:ext uri="{9D8B030D-6E8A-4147-A177-3AD203B41FA5}">
                      <a16:colId xmlns:a16="http://schemas.microsoft.com/office/drawing/2014/main" val="2800242261"/>
                    </a:ext>
                  </a:extLst>
                </a:gridCol>
                <a:gridCol w="5023705">
                  <a:extLst>
                    <a:ext uri="{9D8B030D-6E8A-4147-A177-3AD203B41FA5}">
                      <a16:colId xmlns:a16="http://schemas.microsoft.com/office/drawing/2014/main" val="3831924090"/>
                    </a:ext>
                  </a:extLst>
                </a:gridCol>
                <a:gridCol w="2406324">
                  <a:extLst>
                    <a:ext uri="{9D8B030D-6E8A-4147-A177-3AD203B41FA5}">
                      <a16:colId xmlns:a16="http://schemas.microsoft.com/office/drawing/2014/main" val="2648093411"/>
                    </a:ext>
                  </a:extLst>
                </a:gridCol>
                <a:gridCol w="1879525">
                  <a:extLst>
                    <a:ext uri="{9D8B030D-6E8A-4147-A177-3AD203B41FA5}">
                      <a16:colId xmlns:a16="http://schemas.microsoft.com/office/drawing/2014/main" val="4116956412"/>
                    </a:ext>
                  </a:extLst>
                </a:gridCol>
              </a:tblGrid>
              <a:tr h="510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Name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Scope or shape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Status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ETHZ_v6 Slicing</a:t>
                      </a:r>
                      <a:b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Patterns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16900187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compute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CONV/DW/FC/EWE/POOL/TNPS -&gt; L1 tile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大多已實作</a:t>
                      </a:r>
                      <a:endParaRPr lang="zh-TW" altLang="en-US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44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595282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Consumer tail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-&gt; EWE/POOL/TNPS/store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已實作，部分已泛化</a:t>
                      </a:r>
                      <a:endParaRPr lang="zh-TW" altLang="en-US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52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4059446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Layout bridge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sslice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concat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/d2space/transpose -&gt; compute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Partial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286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46546522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Fanout/live-range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one producer -&gt; multiple consumers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Partial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54837705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 as engine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udma_r/udma_w preload/store participates in pipeline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Done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58799417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preload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head/tail -&gt; compute overlap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Done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970947239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C5CC15CD-ED18-E8A7-C3CD-5EECB39FB584}"/>
              </a:ext>
            </a:extLst>
          </p:cNvPr>
          <p:cNvSpPr txBox="1"/>
          <p:nvPr/>
        </p:nvSpPr>
        <p:spPr>
          <a:xfrm>
            <a:off x="627250" y="5464468"/>
            <a:ext cx="11358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Scan</a:t>
            </a:r>
            <a:r>
              <a:rPr kumimoji="1" lang="zh-TW" altLang="en-US" dirty="0"/>
              <a:t> </a:t>
            </a:r>
            <a:r>
              <a:rPr kumimoji="1" lang="en-US" altLang="zh-TW" dirty="0"/>
              <a:t>ETHZ_v6 Patterns</a:t>
            </a:r>
            <a:r>
              <a:rPr kumimoji="1" lang="zh-TW" altLang="en-US" dirty="0"/>
              <a:t> </a:t>
            </a:r>
            <a:r>
              <a:rPr kumimoji="1" lang="en-US" altLang="zh-TW" dirty="0"/>
              <a:t>to generate </a:t>
            </a:r>
            <a:r>
              <a:rPr kumimoji="1" lang="en-US" altLang="zh-TW" b="1" dirty="0" err="1">
                <a:solidFill>
                  <a:srgbClr val="0070C0"/>
                </a:solidFill>
              </a:rPr>
              <a:t>Microblock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Path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Slice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Patterns </a:t>
            </a:r>
            <a:r>
              <a:rPr kumimoji="1" lang="en-US" altLang="zh-TW" dirty="0"/>
              <a:t>by AI for function coverage and easy debugging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9138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MDLA7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/>
          <p:cNvSpPr/>
          <p:nvPr/>
        </p:nvSpPr>
        <p:spPr>
          <a:xfrm>
            <a:off x="850685" y="1617261"/>
            <a:ext cx="10632754" cy="34841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en-US" altLang="zh-TW" sz="2800" b="1" dirty="0">
                <a:solidFill>
                  <a:srgbClr val="183458"/>
                </a:solidFill>
              </a:rPr>
              <a:t>(1 week including compiler tuning)</a:t>
            </a:r>
            <a:endParaRPr lang="en-US" altLang="zh-TW" sz="2800" dirty="0">
              <a:solidFill>
                <a:srgbClr val="000000"/>
              </a:solidFill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Precise Level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dirty="0">
                <a:solidFill>
                  <a:srgbClr val="183458"/>
                </a:solidFill>
                <a:latin typeface="Calibri"/>
              </a:rPr>
              <a:t>Engines : Throughput TLM/ </a:t>
            </a:r>
            <a:r>
              <a:rPr lang="en-US" sz="2800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Pipeline/Synthesize </a:t>
            </a:r>
            <a:r>
              <a:rPr lang="en-US" sz="2800" b="1" dirty="0" err="1">
                <a:solidFill>
                  <a:schemeClr val="bg1">
                    <a:lumMod val="65000"/>
                  </a:schemeClr>
                </a:solidFill>
                <a:latin typeface="Calibri"/>
              </a:rPr>
              <a:t>SystemC</a:t>
            </a:r>
            <a:endParaRPr lang="en-US" sz="2800" b="1" u="none" strike="noStrike" dirty="0">
              <a:solidFill>
                <a:schemeClr val="bg1">
                  <a:lumMod val="65000"/>
                </a:schemeClr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 : (L1Mesh) Fast/SRAM Port Conflict/Mesh </a:t>
            </a: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dirty="0">
                <a:solidFill>
                  <a:srgbClr val="183458"/>
                </a:solidFill>
                <a:latin typeface="Calibri"/>
              </a:rPr>
              <a:t>DRAM : BW/</a:t>
            </a:r>
            <a:r>
              <a:rPr lang="en-US" sz="2800" b="1" dirty="0" err="1">
                <a:solidFill>
                  <a:schemeClr val="bg1">
                    <a:lumMod val="65000"/>
                  </a:schemeClr>
                </a:solidFill>
                <a:latin typeface="Calibri"/>
              </a:rPr>
              <a:t>uSEDA</a:t>
            </a:r>
            <a:endParaRPr lang="en-US" sz="2800" b="0" u="none" strike="noStrike" dirty="0">
              <a:solidFill>
                <a:schemeClr val="bg1">
                  <a:lumMod val="65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CB5-E0C6-5E8D-7D33-5ABC1086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376107CE-DB27-70A9-CABB-A00E8BE18C8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L1Mesh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58E1B20D-9E28-6D19-E290-861CD4FE6432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>
            <a:extLst>
              <a:ext uri="{FF2B5EF4-FFF2-40B4-BE49-F238E27FC236}">
                <a16:creationId xmlns:a16="http://schemas.microsoft.com/office/drawing/2014/main" id="{E4E34E5D-C94D-EFF0-FBE5-FBB6EDB76657}"/>
              </a:ext>
            </a:extLst>
          </p:cNvPr>
          <p:cNvSpPr/>
          <p:nvPr/>
        </p:nvSpPr>
        <p:spPr>
          <a:xfrm>
            <a:off x="898186" y="1238795"/>
            <a:ext cx="8834040" cy="40997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 (0.5 hours)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(2 Weeks)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Hierarchy 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Macro (1 Port R/W, 768x16Bytes, 12K)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Quad SRAM Macro (4 Port R/W, 48K)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Mesh4x4 (16*Quad SRAM Macro, 768K)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L1Mesh (4*Mesh4x4,3M)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Edge Injection match R/W Requests (32R+32W+16R+16W)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2xMesh4x4 mapping to same 16*Quad SRAM Macro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DE961B87-056C-A94D-1CBF-8BFEFA17C654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663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Profile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圖片 4"/>
          <p:cNvPicPr/>
          <p:nvPr/>
        </p:nvPicPr>
        <p:blipFill>
          <a:blip r:embed="rId2"/>
          <a:stretch/>
        </p:blipFill>
        <p:spPr>
          <a:xfrm>
            <a:off x="2298627" y="76320"/>
            <a:ext cx="9739440" cy="670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Regression Table &amp; L1Mesh Evaluation 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圖片 2"/>
          <p:cNvPicPr/>
          <p:nvPr/>
        </p:nvPicPr>
        <p:blipFill>
          <a:blip r:embed="rId2"/>
          <a:stretch/>
        </p:blipFill>
        <p:spPr>
          <a:xfrm>
            <a:off x="1752480" y="1132920"/>
            <a:ext cx="8686440" cy="546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圓角矩形 4"/>
          <p:cNvSpPr/>
          <p:nvPr/>
        </p:nvSpPr>
        <p:spPr>
          <a:xfrm>
            <a:off x="7552800" y="1626840"/>
            <a:ext cx="642960" cy="4974840"/>
          </a:xfrm>
          <a:prstGeom prst="roundRect">
            <a:avLst>
              <a:gd name="adj" fmla="val 16667"/>
            </a:avLst>
          </a:prstGeom>
          <a:noFill/>
          <a:ln w="412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圓角矩形 6"/>
          <p:cNvSpPr/>
          <p:nvPr/>
        </p:nvSpPr>
        <p:spPr>
          <a:xfrm>
            <a:off x="9590760" y="1626840"/>
            <a:ext cx="848520" cy="4974840"/>
          </a:xfrm>
          <a:prstGeom prst="roundRect">
            <a:avLst>
              <a:gd name="adj" fmla="val 16667"/>
            </a:avLst>
          </a:prstGeom>
          <a:noFill/>
          <a:ln w="635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5BCAE66-AA2A-9B6B-1CC9-3EB745DF5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3" b="13056"/>
          <a:stretch>
            <a:fillRect/>
          </a:stretch>
        </p:blipFill>
        <p:spPr>
          <a:xfrm>
            <a:off x="104466" y="2257269"/>
            <a:ext cx="11653014" cy="45267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4ED936-4930-E8C0-7660-BEE700C5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6" y="273600"/>
            <a:ext cx="4872936" cy="491331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MDLA7 uArchSim Regression Table</a:t>
            </a:r>
            <a:r>
              <a:rPr lang="zh-TW" altLang="en-US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7303A5A-E6DC-9BFF-BB18-40EE53CE7155}"/>
              </a:ext>
            </a:extLst>
          </p:cNvPr>
          <p:cNvSpPr/>
          <p:nvPr/>
        </p:nvSpPr>
        <p:spPr>
          <a:xfrm>
            <a:off x="495480" y="764931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642C401-A405-AB60-009F-A0BFD6BDC35A}"/>
              </a:ext>
            </a:extLst>
          </p:cNvPr>
          <p:cNvSpPr/>
          <p:nvPr/>
        </p:nvSpPr>
        <p:spPr>
          <a:xfrm>
            <a:off x="973109" y="1119262"/>
            <a:ext cx="4538133" cy="2330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1400" b="1" dirty="0">
                <a:solidFill>
                  <a:srgbClr val="183458"/>
                </a:solidFill>
                <a:latin typeface="Calibri"/>
              </a:rPr>
              <a:t>Clock</a:t>
            </a:r>
            <a:endParaRPr lang="en-US" altLang="zh-TW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Engine : 1.9GMHz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: 1.3G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BW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DRAM : LPDDR5</a:t>
            </a:r>
            <a:endParaRPr lang="en-US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Computer Power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MDLA6: 4 Cores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MDLA7: 1 Cores ~~ MDLA6 2 Cores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000" b="1" dirty="0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4525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1B0FC-C2F1-5E0E-8955-43C19321F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1033"/>
            <a:ext cx="10972440" cy="742400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L1Mesh Evaluation (v0.1 version)</a:t>
            </a:r>
            <a:endParaRPr lang="zh-TW" altLang="en-US" sz="2600" b="1" dirty="0">
              <a:solidFill>
                <a:srgbClr val="183458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9B3F18-68BC-89E4-21B3-07D874E11828}"/>
              </a:ext>
            </a:extLst>
          </p:cNvPr>
          <p:cNvSpPr/>
          <p:nvPr/>
        </p:nvSpPr>
        <p:spPr>
          <a:xfrm>
            <a:off x="380880" y="640657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9665232-E357-2A11-F3CB-FAA9D3E552D9}"/>
              </a:ext>
            </a:extLst>
          </p:cNvPr>
          <p:cNvSpPr/>
          <p:nvPr/>
        </p:nvSpPr>
        <p:spPr>
          <a:xfrm>
            <a:off x="305323" y="904923"/>
            <a:ext cx="8786426" cy="621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L1Mesh Simulation Mode :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Fast/S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RAM Port Conflict/Mesh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400" b="1" dirty="0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B08516A-4508-0966-60DC-76173768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42" b="14703"/>
          <a:stretch>
            <a:fillRect/>
          </a:stretch>
        </p:blipFill>
        <p:spPr>
          <a:xfrm>
            <a:off x="141155" y="1894690"/>
            <a:ext cx="11771553" cy="4487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67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957137" y="1375830"/>
            <a:ext cx="8986320" cy="47460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Tunning</a:t>
            </a:r>
            <a:r>
              <a:rPr lang="zh-TW" alt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Approach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Baseline profiling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Tiling and micro-blocks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Layer Fuse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Overlap Scheduling 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Bubbles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Prompt Examples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/goal E2E function 100%, turning performance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不能掉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chemeClr val="dk1"/>
                </a:solidFill>
                <a:latin typeface="Calibri"/>
              </a:rPr>
              <a:t>算法</a:t>
            </a:r>
            <a:r>
              <a:rPr lang="zh-TW" alt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要是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general rule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Check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不是最後一層有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大量的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DRAM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Write 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列出來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然後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最佳化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Layer</a:t>
            </a:r>
            <a:r>
              <a:rPr lang="zh-TW" altLang="en-US" sz="1600" b="1" dirty="0">
                <a:solidFill>
                  <a:schemeClr val="dk1"/>
                </a:solidFill>
              </a:rPr>
              <a:t> 可以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 成 </a:t>
            </a:r>
            <a:r>
              <a:rPr lang="en-US" altLang="zh-TW" sz="1600" b="1" dirty="0">
                <a:solidFill>
                  <a:schemeClr val="dk1"/>
                </a:solidFill>
              </a:rPr>
              <a:t>Flow</a:t>
            </a:r>
            <a:r>
              <a:rPr lang="zh-TW" altLang="en-US" sz="1600" b="1" dirty="0">
                <a:solidFill>
                  <a:schemeClr val="dk1"/>
                </a:solidFill>
              </a:rPr>
              <a:t> 沒 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起來的 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dirty="0">
              <a:solidFill>
                <a:srgbClr val="000000"/>
              </a:solidFill>
              <a:latin typeface="Arial"/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沒有切成 </a:t>
            </a:r>
            <a:r>
              <a:rPr lang="en-US" altLang="zh-TW" sz="1600" b="1" dirty="0">
                <a:solidFill>
                  <a:schemeClr val="dk1"/>
                </a:solidFill>
              </a:rPr>
              <a:t>Microblock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</a:t>
            </a:r>
            <a:r>
              <a:rPr lang="en-US" altLang="zh-TW" sz="1600" b="1" dirty="0">
                <a:solidFill>
                  <a:schemeClr val="dk1"/>
                </a:solidFill>
              </a:rPr>
              <a:t>Engine</a:t>
            </a:r>
            <a:r>
              <a:rPr lang="zh-TW" altLang="en-US" sz="1600" b="1" dirty="0">
                <a:solidFill>
                  <a:schemeClr val="dk1"/>
                </a:solidFill>
              </a:rPr>
              <a:t> 可以平行 沒有平行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可以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沒有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</p:txBody>
      </p:sp>
      <p:sp>
        <p:nvSpPr>
          <p:cNvPr id="200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20234-C51A-0634-9AAC-2A785A7AC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>
            <a:extLst>
              <a:ext uri="{FF2B5EF4-FFF2-40B4-BE49-F238E27FC236}">
                <a16:creationId xmlns:a16="http://schemas.microsoft.com/office/drawing/2014/main" id="{9C898A19-88EB-5513-D6E4-1900E98AAB01}"/>
              </a:ext>
            </a:extLst>
          </p:cNvPr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Gap to Synthesizable RTL</a:t>
            </a:r>
            <a:r>
              <a:rPr lang="zh-TW" alt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(to-do)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3">
            <a:extLst>
              <a:ext uri="{FF2B5EF4-FFF2-40B4-BE49-F238E27FC236}">
                <a16:creationId xmlns:a16="http://schemas.microsoft.com/office/drawing/2014/main" id="{2AB54E6A-C594-425C-F662-471177265375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03" name="群組 18">
            <a:extLst>
              <a:ext uri="{FF2B5EF4-FFF2-40B4-BE49-F238E27FC236}">
                <a16:creationId xmlns:a16="http://schemas.microsoft.com/office/drawing/2014/main" id="{6702DD24-E91C-F219-B34B-9220C0CCCF5B}"/>
              </a:ext>
            </a:extLst>
          </p:cNvPr>
          <p:cNvGrpSpPr/>
          <p:nvPr/>
        </p:nvGrpSpPr>
        <p:grpSpPr>
          <a:xfrm>
            <a:off x="502920" y="1234440"/>
            <a:ext cx="4545720" cy="2767680"/>
            <a:chOff x="502920" y="1234440"/>
            <a:chExt cx="4545720" cy="2767680"/>
          </a:xfrm>
        </p:grpSpPr>
        <p:sp>
          <p:nvSpPr>
            <p:cNvPr id="204" name="Rounded Rectangle 4">
              <a:extLst>
                <a:ext uri="{FF2B5EF4-FFF2-40B4-BE49-F238E27FC236}">
                  <a16:creationId xmlns:a16="http://schemas.microsoft.com/office/drawing/2014/main" id="{3ACEB331-F23D-00C8-8798-C99050BDB97B}"/>
                </a:ext>
              </a:extLst>
            </p:cNvPr>
            <p:cNvSpPr/>
            <p:nvPr/>
          </p:nvSpPr>
          <p:spPr>
            <a:xfrm>
              <a:off x="502920" y="1234440"/>
              <a:ext cx="4545720" cy="240588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205" name="TextBox 5">
              <a:extLst>
                <a:ext uri="{FF2B5EF4-FFF2-40B4-BE49-F238E27FC236}">
                  <a16:creationId xmlns:a16="http://schemas.microsoft.com/office/drawing/2014/main" id="{C4F4352F-2113-553E-0721-E1B8F8009F41}"/>
                </a:ext>
              </a:extLst>
            </p:cNvPr>
            <p:cNvSpPr/>
            <p:nvPr/>
          </p:nvSpPr>
          <p:spPr>
            <a:xfrm>
              <a:off x="721080" y="1440720"/>
              <a:ext cx="4109400" cy="34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B84141"/>
                  </a:solidFill>
                  <a:effectLst/>
                  <a:uFillTx/>
                  <a:latin typeface="Calibri"/>
                </a:rPr>
                <a:t>Microarchitecture RTL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TextBox 6">
              <a:extLst>
                <a:ext uri="{FF2B5EF4-FFF2-40B4-BE49-F238E27FC236}">
                  <a16:creationId xmlns:a16="http://schemas.microsoft.com/office/drawing/2014/main" id="{1E2A4453-66D2-A397-9723-7063DD4238AF}"/>
                </a:ext>
              </a:extLst>
            </p:cNvPr>
            <p:cNvSpPr/>
            <p:nvPr/>
          </p:nvSpPr>
          <p:spPr>
            <a:xfrm>
              <a:off x="745200" y="1922040"/>
              <a:ext cx="4121640" cy="208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Translate TLM engines to RTL state machines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Finalize descriptor CSR/ring interfaces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Define reset/clock/power domains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Harden TNPS and UDMA datapaths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7" name="群組 16">
            <a:extLst>
              <a:ext uri="{FF2B5EF4-FFF2-40B4-BE49-F238E27FC236}">
                <a16:creationId xmlns:a16="http://schemas.microsoft.com/office/drawing/2014/main" id="{FAE3AEA8-A367-FEA8-D3E4-F0C2030BFF15}"/>
              </a:ext>
            </a:extLst>
          </p:cNvPr>
          <p:cNvGrpSpPr/>
          <p:nvPr/>
        </p:nvGrpSpPr>
        <p:grpSpPr>
          <a:xfrm>
            <a:off x="7143120" y="1298520"/>
            <a:ext cx="4004640" cy="2091960"/>
            <a:chOff x="7143120" y="1298520"/>
            <a:chExt cx="4004640" cy="2091960"/>
          </a:xfrm>
        </p:grpSpPr>
        <p:sp>
          <p:nvSpPr>
            <p:cNvPr id="208" name="Rounded Rectangle 7">
              <a:extLst>
                <a:ext uri="{FF2B5EF4-FFF2-40B4-BE49-F238E27FC236}">
                  <a16:creationId xmlns:a16="http://schemas.microsoft.com/office/drawing/2014/main" id="{264B7427-8DA7-2FAD-0984-89BBEBE8863A}"/>
                </a:ext>
              </a:extLst>
            </p:cNvPr>
            <p:cNvSpPr/>
            <p:nvPr/>
          </p:nvSpPr>
          <p:spPr>
            <a:xfrm>
              <a:off x="7143120" y="1298520"/>
              <a:ext cx="4004640" cy="209196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209" name="TextBox 8">
              <a:extLst>
                <a:ext uri="{FF2B5EF4-FFF2-40B4-BE49-F238E27FC236}">
                  <a16:creationId xmlns:a16="http://schemas.microsoft.com/office/drawing/2014/main" id="{71E7E9D4-1FC9-09B0-347C-F08860D5BA82}"/>
                </a:ext>
              </a:extLst>
            </p:cNvPr>
            <p:cNvSpPr/>
            <p:nvPr/>
          </p:nvSpPr>
          <p:spPr>
            <a:xfrm>
              <a:off x="7335360" y="1477800"/>
              <a:ext cx="3620160" cy="35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2100" b="1" u="none" strike="noStrike">
                  <a:solidFill>
                    <a:srgbClr val="E08430"/>
                  </a:solidFill>
                  <a:effectLst/>
                  <a:uFillTx/>
                  <a:latin typeface="Calibri"/>
                </a:rPr>
                <a:t>Timing Accuracy</a:t>
              </a:r>
              <a:endPara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TextBox 9">
              <a:extLst>
                <a:ext uri="{FF2B5EF4-FFF2-40B4-BE49-F238E27FC236}">
                  <a16:creationId xmlns:a16="http://schemas.microsoft.com/office/drawing/2014/main" id="{BC4460B9-4E4E-0AE0-B392-3BE6B600B23E}"/>
                </a:ext>
              </a:extLst>
            </p:cNvPr>
            <p:cNvSpPr/>
            <p:nvPr/>
          </p:nvSpPr>
          <p:spPr>
            <a:xfrm>
              <a:off x="7356600" y="1896120"/>
              <a:ext cx="3630960" cy="116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Cycle-accurate L1Mesh bank arbitration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Real DRAM controller behavior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Backpressure and FIFO sizing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Clock-domain and SRAM macro timing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1" name="群組 17">
            <a:extLst>
              <a:ext uri="{FF2B5EF4-FFF2-40B4-BE49-F238E27FC236}">
                <a16:creationId xmlns:a16="http://schemas.microsoft.com/office/drawing/2014/main" id="{0C8178D7-CDF7-A4E5-6BCF-69A08E843684}"/>
              </a:ext>
            </a:extLst>
          </p:cNvPr>
          <p:cNvGrpSpPr/>
          <p:nvPr/>
        </p:nvGrpSpPr>
        <p:grpSpPr>
          <a:xfrm>
            <a:off x="3933000" y="4119120"/>
            <a:ext cx="4545720" cy="2327040"/>
            <a:chOff x="3933000" y="4119120"/>
            <a:chExt cx="4545720" cy="2327040"/>
          </a:xfrm>
        </p:grpSpPr>
        <p:sp>
          <p:nvSpPr>
            <p:cNvPr id="212" name="Rounded Rectangle 10">
              <a:extLst>
                <a:ext uri="{FF2B5EF4-FFF2-40B4-BE49-F238E27FC236}">
                  <a16:creationId xmlns:a16="http://schemas.microsoft.com/office/drawing/2014/main" id="{DDF64B73-5ECC-7C11-0736-EEA57CE31D2E}"/>
                </a:ext>
              </a:extLst>
            </p:cNvPr>
            <p:cNvSpPr/>
            <p:nvPr/>
          </p:nvSpPr>
          <p:spPr>
            <a:xfrm>
              <a:off x="3933000" y="4119120"/>
              <a:ext cx="4545720" cy="23270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213" name="TextBox 11">
              <a:extLst>
                <a:ext uri="{FF2B5EF4-FFF2-40B4-BE49-F238E27FC236}">
                  <a16:creationId xmlns:a16="http://schemas.microsoft.com/office/drawing/2014/main" id="{D548EDCC-FE49-2DC7-EC11-49474EA88ECE}"/>
                </a:ext>
              </a:extLst>
            </p:cNvPr>
            <p:cNvSpPr/>
            <p:nvPr/>
          </p:nvSpPr>
          <p:spPr>
            <a:xfrm>
              <a:off x="4163400" y="4318560"/>
              <a:ext cx="4084920" cy="35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2100" b="1" u="none" strike="noStrike">
                  <a:solidFill>
                    <a:srgbClr val="183458"/>
                  </a:solidFill>
                  <a:effectLst/>
                  <a:uFillTx/>
                  <a:latin typeface="Calibri"/>
                </a:rPr>
                <a:t>Verification Closure</a:t>
              </a:r>
              <a:endParaRPr lang="en-US" sz="21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TextBox 12">
              <a:extLst>
                <a:ext uri="{FF2B5EF4-FFF2-40B4-BE49-F238E27FC236}">
                  <a16:creationId xmlns:a16="http://schemas.microsoft.com/office/drawing/2014/main" id="{84A748BA-901D-B828-8660-EA5B9C4D461F}"/>
                </a:ext>
              </a:extLst>
            </p:cNvPr>
            <p:cNvSpPr/>
            <p:nvPr/>
          </p:nvSpPr>
          <p:spPr>
            <a:xfrm>
              <a:off x="4188960" y="4784040"/>
              <a:ext cx="4097520" cy="1290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Golden model and random tests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Coverage for all op modes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RTL/</a:t>
              </a:r>
              <a:r>
                <a:rPr lang="en-US" sz="1600" b="0" u="none" strike="noStrike" dirty="0" err="1">
                  <a:solidFill>
                    <a:srgbClr val="191C21"/>
                  </a:solidFill>
                  <a:effectLst/>
                  <a:uFillTx/>
                  <a:latin typeface="Calibri"/>
                </a:rPr>
                <a:t>SystemC</a:t>
              </a: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co-simulation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Full fast/conflict/mesh regression gates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5" name="TextBox 15">
            <a:extLst>
              <a:ext uri="{FF2B5EF4-FFF2-40B4-BE49-F238E27FC236}">
                <a16:creationId xmlns:a16="http://schemas.microsoft.com/office/drawing/2014/main" id="{7FCE5304-9004-8BC4-A2D1-F082C1D675D9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399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題">
  <a:themeElements>
    <a:clrScheme name="Office 2013 - 2022 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題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1261</TotalTime>
  <Words>939</Words>
  <Application>Microsoft Macintosh PowerPoint</Application>
  <PresentationFormat>寬螢幕</PresentationFormat>
  <Paragraphs>201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Helvetica Neue</vt:lpstr>
      <vt:lpstr>Symbol</vt:lpstr>
      <vt:lpstr>Times New Roman</vt:lpstr>
      <vt:lpstr>Wingdings</vt:lpstr>
      <vt:lpstr>Office 2013 - 2022 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MDLA7 uArchSim Regression Table </vt:lpstr>
      <vt:lpstr>L1Mesh Evaluation (v0.1 version)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xyz1106</cp:lastModifiedBy>
  <cp:revision>32</cp:revision>
  <dcterms:created xsi:type="dcterms:W3CDTF">2013-01-27T09:14:16Z</dcterms:created>
  <dcterms:modified xsi:type="dcterms:W3CDTF">2026-05-10T21:12:59Z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寬螢幕</vt:lpwstr>
  </property>
  <property fmtid="{D5CDD505-2E9C-101B-9397-08002B2CF9AE}" pid="3" name="Slides">
    <vt:i4>9</vt:i4>
  </property>
</Properties>
</file>