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2" r:id="rId4"/>
    <p:sldId id="281" r:id="rId5"/>
    <p:sldId id="258" r:id="rId6"/>
    <p:sldId id="275" r:id="rId7"/>
    <p:sldId id="259" r:id="rId8"/>
    <p:sldId id="265" r:id="rId9"/>
    <p:sldId id="268" r:id="rId10"/>
    <p:sldId id="279" r:id="rId11"/>
    <p:sldId id="261" r:id="rId12"/>
    <p:sldId id="263" r:id="rId13"/>
    <p:sldId id="270" r:id="rId14"/>
    <p:sldId id="267" r:id="rId15"/>
    <p:sldId id="262" r:id="rId16"/>
    <p:sldId id="271" r:id="rId17"/>
    <p:sldId id="276" r:id="rId18"/>
    <p:sldId id="273" r:id="rId19"/>
    <p:sldId id="277" r:id="rId20"/>
    <p:sldId id="280" r:id="rId21"/>
    <p:sldId id="283" r:id="rId22"/>
    <p:sldId id="284" r:id="rId23"/>
  </p:sldIdLst>
  <p:sldSz cx="12192000" cy="6858000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4"/>
    <p:restoredTop sz="94589"/>
  </p:normalViewPr>
  <p:slideViewPr>
    <p:cSldViewPr snapToGrid="0">
      <p:cViewPr varScale="1">
        <p:scale>
          <a:sx n="120" d="100"/>
          <a:sy n="120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zh-TW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zh-TW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D03B87-28BB-4B29-878C-F94DE7FCBF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D4F9C1-FEA0-46DE-B61C-B4FCA55186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CCB23B-2CF5-4EFB-BEF5-94DBE2FA12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17B82B-FD86-41EC-95F2-6E5DE0F4AE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章節標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DDA64A-4686-4C86-8A17-7BFF6EB08D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7841FF-FA02-4038-A747-EE0BFE6C00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比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F3DE28-8C81-45E3-8BED-A37D133E87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60C257-7648-4D7A-B551-C0F39FCA1F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D3D3D7-43FB-4982-89A7-9287BB0932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請按這裡編輯題名文字格式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請按這裡編輯大綱文字格式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第二個大綱層次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第五個大綱層次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含輔助字幕的內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&lt;日期/時間&gt;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A88054-E75E-4736-9D7E-AF284CF4FD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含輔助字幕的圖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zh-TW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按一下圖示以新增圖片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按一下以編輯母片文字樣式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&lt;日期/時間&gt;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041BA4-FF1A-4D19-9989-5A87345E73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3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880920" y="2561040"/>
            <a:ext cx="10429920" cy="250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uArcSim Implementation by AI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WYLin, </a:t>
            </a:r>
            <a:r>
              <a:rPr lang="en-US" sz="32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2026.05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5"/>
          <p:cNvSpPr/>
          <p:nvPr/>
        </p:nvSpPr>
        <p:spPr>
          <a:xfrm>
            <a:off x="901020" y="1059963"/>
            <a:ext cx="10389960" cy="39766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" sz="32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Motivation</a:t>
            </a: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3200" b="1" dirty="0" err="1">
                <a:solidFill>
                  <a:srgbClr val="183458"/>
                </a:solidFill>
              </a:rPr>
              <a:t>uArcSim</a:t>
            </a:r>
            <a:r>
              <a:rPr lang="en-US" altLang="zh-TW" sz="3200" b="1" dirty="0">
                <a:solidFill>
                  <a:srgbClr val="183458"/>
                </a:solidFill>
              </a:rPr>
              <a:t> </a:t>
            </a:r>
          </a:p>
          <a:p>
            <a:pPr marL="800280" lvl="1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3200" b="1" dirty="0">
                <a:solidFill>
                  <a:srgbClr val="183458"/>
                </a:solidFill>
              </a:rPr>
              <a:t>Design Flow</a:t>
            </a:r>
          </a:p>
          <a:p>
            <a:pPr marL="800280" lvl="1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3200" b="1" dirty="0">
                <a:solidFill>
                  <a:srgbClr val="183458"/>
                </a:solidFill>
                <a:latin typeface="Arial"/>
              </a:rPr>
              <a:t>Model Level</a:t>
            </a:r>
          </a:p>
          <a:p>
            <a:pPr marL="800280" lvl="1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3200" b="1" dirty="0">
                <a:solidFill>
                  <a:srgbClr val="183458"/>
                </a:solidFill>
                <a:latin typeface="Arial"/>
              </a:rPr>
              <a:t>Profile and GUI</a:t>
            </a:r>
            <a:endParaRPr lang="en-US" altLang="zh-TW" sz="3200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sz="32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Performance Tuning</a:t>
            </a: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sz="3200" b="1" dirty="0">
                <a:solidFill>
                  <a:srgbClr val="183458"/>
                </a:solidFill>
                <a:latin typeface="Calibri"/>
              </a:rPr>
              <a:t>AI Harness Engineering</a:t>
            </a: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3200" b="1" dirty="0">
                <a:solidFill>
                  <a:srgbClr val="183458"/>
                </a:solidFill>
                <a:latin typeface="Calibri"/>
              </a:rPr>
              <a:t>Next Step</a:t>
            </a:r>
            <a:endParaRPr lang="en-US" altLang="zh-TW" sz="32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"/>
          <p:cNvSpPr/>
          <p:nvPr/>
        </p:nvSpPr>
        <p:spPr>
          <a:xfrm>
            <a:off x="747000" y="180360"/>
            <a:ext cx="7863480" cy="6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0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Agenda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344030E-EB4F-E3B4-DF91-DCBB0464E456}"/>
              </a:ext>
            </a:extLst>
          </p:cNvPr>
          <p:cNvSpPr/>
          <p:nvPr/>
        </p:nvSpPr>
        <p:spPr>
          <a:xfrm>
            <a:off x="495480" y="861236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4D49-0971-C027-EC2C-083F7A9F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5">
            <a:extLst>
              <a:ext uri="{FF2B5EF4-FFF2-40B4-BE49-F238E27FC236}">
                <a16:creationId xmlns:a16="http://schemas.microsoft.com/office/drawing/2014/main" id="{BF916D57-0DF9-9B3E-5CC6-E4F8443C8E05}"/>
              </a:ext>
            </a:extLst>
          </p:cNvPr>
          <p:cNvSpPr/>
          <p:nvPr/>
        </p:nvSpPr>
        <p:spPr>
          <a:xfrm>
            <a:off x="495480" y="1279815"/>
            <a:ext cx="11201040" cy="38535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Motivation</a:t>
            </a: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 : MDLA7 L1Mesh AA Model</a:t>
            </a: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28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800" b="1" dirty="0">
                <a:solidFill>
                  <a:srgbClr val="183458"/>
                </a:solidFill>
                <a:latin typeface="Calibri"/>
              </a:rPr>
              <a:t>Solution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MDLA6 Traffic Log and Log Player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AA Model (Cannot get is optimization patterns before 6/E)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Brand-New Test Framework : </a:t>
            </a:r>
            <a:r>
              <a:rPr lang="en-US" sz="2800" b="1" u="none" strike="noStrike" dirty="0" err="1">
                <a:solidFill>
                  <a:srgbClr val="183458"/>
                </a:solidFill>
                <a:effectLst/>
                <a:uFillTx/>
                <a:latin typeface="Calibri"/>
              </a:rPr>
              <a:t>uArchSim</a:t>
            </a:r>
            <a:endParaRPr lang="en-US" sz="28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183458"/>
              </a:solidFill>
              <a:latin typeface="Calibri"/>
            </a:endParaRPr>
          </a:p>
          <a:p>
            <a:pPr defTabSz="457200">
              <a:buClr>
                <a:srgbClr val="183458"/>
              </a:buClr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buClr>
                <a:srgbClr val="183458"/>
              </a:buClr>
            </a:pPr>
            <a:endParaRPr lang="en-US" altLang="zh-TW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6272D70A-715D-20CD-28A9-D5BABBAB63D4}"/>
              </a:ext>
            </a:extLst>
          </p:cNvPr>
          <p:cNvSpPr/>
          <p:nvPr/>
        </p:nvSpPr>
        <p:spPr>
          <a:xfrm>
            <a:off x="747000" y="180360"/>
            <a:ext cx="7863480" cy="6526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" altLang="zh-TW" sz="4000" b="1" dirty="0">
                <a:solidFill>
                  <a:srgbClr val="183458"/>
                </a:solidFill>
              </a:rPr>
              <a:t>Motivation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8AE6C29-B36C-6D45-7AEE-F586D9C444D7}"/>
              </a:ext>
            </a:extLst>
          </p:cNvPr>
          <p:cNvSpPr/>
          <p:nvPr/>
        </p:nvSpPr>
        <p:spPr>
          <a:xfrm>
            <a:off x="495480" y="861236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930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658F-5D2D-1A9F-6B8C-FD5A020FF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5">
            <a:extLst>
              <a:ext uri="{FF2B5EF4-FFF2-40B4-BE49-F238E27FC236}">
                <a16:creationId xmlns:a16="http://schemas.microsoft.com/office/drawing/2014/main" id="{8F02001B-A4B2-C5DD-3E69-4E84023E40BB}"/>
              </a:ext>
            </a:extLst>
          </p:cNvPr>
          <p:cNvSpPr/>
          <p:nvPr/>
        </p:nvSpPr>
        <p:spPr>
          <a:xfrm>
            <a:off x="495480" y="1279815"/>
            <a:ext cx="11201040" cy="50230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" sz="2800" b="1" dirty="0">
                <a:solidFill>
                  <a:srgbClr val="183458"/>
                </a:solidFill>
              </a:rPr>
              <a:t>An IP accelerator modeling and verification platform by AI</a:t>
            </a:r>
            <a:endParaRPr lang="en-US" sz="28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28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AI Tool :  Claude and Codex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28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Input documents (</a:t>
            </a:r>
            <a:r>
              <a:rPr lang="zh-TW" altLang="zh-TW" sz="2800" b="1" dirty="0">
                <a:solidFill>
                  <a:srgbClr val="183458"/>
                </a:solidFill>
                <a:latin typeface="Calibri"/>
              </a:rPr>
              <a:t>No violation of PIM policies</a:t>
            </a:r>
            <a:r>
              <a:rPr lang="en-US" altLang="zh-TW" sz="2800" b="1" dirty="0">
                <a:solidFill>
                  <a:srgbClr val="183458"/>
                </a:solidFill>
                <a:latin typeface="Calibri"/>
              </a:rPr>
              <a:t>)</a:t>
            </a:r>
            <a:endParaRPr lang="zh-TW" altLang="zh-TW" sz="2800" b="1" dirty="0">
              <a:solidFill>
                <a:srgbClr val="183458"/>
              </a:solidFill>
              <a:latin typeface="Calibri"/>
            </a:endParaRP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Block Diagram (</a:t>
            </a:r>
            <a:r>
              <a:rPr lang="en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Hand sketch</a:t>
            </a: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)  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Throughout Table (md)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28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Human Resource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Top Down </a:t>
            </a:r>
            <a:r>
              <a:rPr lang="zh-TW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： </a:t>
            </a:r>
            <a:r>
              <a:rPr lang="en-US" altLang="zh-TW" sz="2400" b="1" dirty="0">
                <a:solidFill>
                  <a:srgbClr val="183458"/>
                </a:solidFill>
                <a:latin typeface="Calibri"/>
              </a:rPr>
              <a:t>2</a:t>
            </a: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 Week (WY)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Bottom Up :  </a:t>
            </a:r>
            <a:r>
              <a:rPr lang="en-US" sz="2400" b="1" dirty="0">
                <a:solidFill>
                  <a:srgbClr val="183458"/>
                </a:solidFill>
                <a:latin typeface="Calibri"/>
              </a:rPr>
              <a:t> 4 </a:t>
            </a: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Weeks (PJ)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buClr>
                <a:srgbClr val="183458"/>
              </a:buClr>
            </a:pPr>
            <a:endParaRPr lang="en-US" altLang="zh-TW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648EFBD7-0F87-ABD4-2C42-4A0D88F53760}"/>
              </a:ext>
            </a:extLst>
          </p:cNvPr>
          <p:cNvSpPr/>
          <p:nvPr/>
        </p:nvSpPr>
        <p:spPr>
          <a:xfrm>
            <a:off x="747000" y="180360"/>
            <a:ext cx="7863480" cy="6526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TW" sz="4000" b="1" dirty="0" err="1">
                <a:solidFill>
                  <a:srgbClr val="183458"/>
                </a:solidFill>
              </a:rPr>
              <a:t>uArchSim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681E57E-4D17-2802-32C9-05B03E4D7F8D}"/>
              </a:ext>
            </a:extLst>
          </p:cNvPr>
          <p:cNvSpPr/>
          <p:nvPr/>
        </p:nvSpPr>
        <p:spPr>
          <a:xfrm>
            <a:off x="495480" y="861236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8344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228600"/>
            <a:ext cx="6674760" cy="591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1" u="none" strike="noStrike" dirty="0" err="1">
                <a:solidFill>
                  <a:srgbClr val="183458"/>
                </a:solidFill>
                <a:effectLst/>
                <a:uFillTx/>
                <a:latin typeface="Calibri"/>
              </a:rPr>
              <a:t>uArcSim</a:t>
            </a:r>
            <a:r>
              <a:rPr lang="en-US" sz="36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 Design Flow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163800" y="1914480"/>
            <a:ext cx="95220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1055880" y="1132920"/>
            <a:ext cx="632556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Hand Sketch 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Calibri"/>
                <a:ea typeface="Noto Sans TC"/>
              </a:rPr>
              <a:t> Picture 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 Drawio (by AI)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CE5DEBC-C01E-5EFD-55C0-2EABC5775F43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43FC6672-66B4-93B8-C4CB-F01699C10121}"/>
              </a:ext>
            </a:extLst>
          </p:cNvPr>
          <p:cNvSpPr/>
          <p:nvPr/>
        </p:nvSpPr>
        <p:spPr>
          <a:xfrm>
            <a:off x="272425" y="3449463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Block Map</a:t>
            </a:r>
          </a:p>
          <a:p>
            <a:pPr algn="ctr"/>
            <a:r>
              <a:rPr kumimoji="1" lang="en-US" altLang="zh-TW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Throughput Table</a:t>
            </a:r>
            <a:endParaRPr kumimoji="1" lang="zh-TW" alt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9468437E-8005-21F0-6530-072852B324D0}"/>
              </a:ext>
            </a:extLst>
          </p:cNvPr>
          <p:cNvSpPr/>
          <p:nvPr/>
        </p:nvSpPr>
        <p:spPr>
          <a:xfrm>
            <a:off x="2557621" y="5159211"/>
            <a:ext cx="1566909" cy="641253"/>
          </a:xfrm>
          <a:prstGeom prst="roundRect">
            <a:avLst/>
          </a:prstGeom>
          <a:solidFill>
            <a:srgbClr val="92D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Fast Mode</a:t>
            </a:r>
          </a:p>
          <a:p>
            <a:pPr algn="ctr"/>
            <a:r>
              <a:rPr kumimoji="1" lang="en-US" altLang="zh-TW" sz="1600" dirty="0" err="1">
                <a:solidFill>
                  <a:schemeClr val="accent1"/>
                </a:solidFill>
              </a:rPr>
              <a:t>SystemC</a:t>
            </a:r>
            <a:endParaRPr kumimoji="1" lang="zh-TW" altLang="en-US" sz="1400" dirty="0">
              <a:solidFill>
                <a:schemeClr val="accent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8F5DD34-FAD3-B2C2-F680-6754F946AA00}"/>
              </a:ext>
            </a:extLst>
          </p:cNvPr>
          <p:cNvSpPr/>
          <p:nvPr/>
        </p:nvSpPr>
        <p:spPr>
          <a:xfrm>
            <a:off x="2557622" y="4301608"/>
            <a:ext cx="1566909" cy="641253"/>
          </a:xfrm>
          <a:prstGeom prst="round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accent1"/>
                </a:solidFill>
              </a:rPr>
              <a:t>Compiler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8C3FA420-3FD9-53FF-E38F-3A0880FD9417}"/>
              </a:ext>
            </a:extLst>
          </p:cNvPr>
          <p:cNvSpPr/>
          <p:nvPr/>
        </p:nvSpPr>
        <p:spPr>
          <a:xfrm>
            <a:off x="2557621" y="1820308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accent1"/>
                </a:solidFill>
              </a:rPr>
              <a:t>Download</a:t>
            </a:r>
          </a:p>
          <a:p>
            <a:pPr algn="ctr"/>
            <a:r>
              <a:rPr kumimoji="1" lang="en-US" altLang="zh-TW" sz="1400" dirty="0">
                <a:solidFill>
                  <a:schemeClr val="accent1"/>
                </a:solidFill>
              </a:rPr>
              <a:t>ETHZ_v5/v6.tflit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946C0AC7-1FC9-5919-E0D5-FE4E75D83C6B}"/>
              </a:ext>
            </a:extLst>
          </p:cNvPr>
          <p:cNvSpPr/>
          <p:nvPr/>
        </p:nvSpPr>
        <p:spPr>
          <a:xfrm>
            <a:off x="2557622" y="3451336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accent1"/>
                </a:solidFill>
              </a:rPr>
              <a:t>TensorFlow</a:t>
            </a:r>
          </a:p>
          <a:p>
            <a:pPr algn="ctr"/>
            <a:r>
              <a:rPr kumimoji="1" lang="en-US" altLang="zh-TW" sz="1400" dirty="0">
                <a:solidFill>
                  <a:schemeClr val="accent1"/>
                </a:solidFill>
              </a:rPr>
              <a:t>Slicer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299B1B1-5F76-B2C3-21BB-0ABB65B2745A}"/>
              </a:ext>
            </a:extLst>
          </p:cNvPr>
          <p:cNvSpPr/>
          <p:nvPr/>
        </p:nvSpPr>
        <p:spPr>
          <a:xfrm>
            <a:off x="2561669" y="2625495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accent1"/>
                </a:solidFill>
              </a:rPr>
              <a:t>TensorFlow</a:t>
            </a:r>
          </a:p>
          <a:p>
            <a:pPr algn="ctr"/>
            <a:r>
              <a:rPr kumimoji="1" lang="en-US" altLang="zh-TW" sz="1400" dirty="0">
                <a:solidFill>
                  <a:schemeClr val="accent1"/>
                </a:solidFill>
              </a:rPr>
              <a:t>Python Golden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C6F22805-638B-40D0-E491-868E229458F8}"/>
              </a:ext>
            </a:extLst>
          </p:cNvPr>
          <p:cNvSpPr/>
          <p:nvPr/>
        </p:nvSpPr>
        <p:spPr>
          <a:xfrm>
            <a:off x="2577667" y="6047365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accent1"/>
                </a:solidFill>
              </a:rPr>
              <a:t>Document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5EA39EA4-4749-29FC-EB4C-5AB67DE22604}"/>
              </a:ext>
            </a:extLst>
          </p:cNvPr>
          <p:cNvSpPr/>
          <p:nvPr/>
        </p:nvSpPr>
        <p:spPr>
          <a:xfrm>
            <a:off x="8951742" y="5833800"/>
            <a:ext cx="1566909" cy="6412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rgbClr val="0070C0"/>
                </a:solidFill>
              </a:rPr>
              <a:t>Verliator</a:t>
            </a:r>
          </a:p>
          <a:p>
            <a:pPr algn="ctr"/>
            <a:r>
              <a:rPr kumimoji="1" lang="en-US" altLang="zh-TW" sz="1600" b="1" dirty="0">
                <a:solidFill>
                  <a:srgbClr val="0070C0"/>
                </a:solidFill>
              </a:rPr>
              <a:t>Simulator </a:t>
            </a:r>
            <a:endParaRPr kumimoji="1" lang="zh-TW" altLang="en-US" sz="1600" b="1" dirty="0">
              <a:solidFill>
                <a:srgbClr val="0070C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B4D4795-C4A5-B15C-F0B1-69F765550F29}"/>
              </a:ext>
            </a:extLst>
          </p:cNvPr>
          <p:cNvSpPr/>
          <p:nvPr/>
        </p:nvSpPr>
        <p:spPr>
          <a:xfrm>
            <a:off x="4915433" y="5150173"/>
            <a:ext cx="1566909" cy="641253"/>
          </a:xfrm>
          <a:prstGeom prst="roundRect">
            <a:avLst/>
          </a:prstGeom>
          <a:solidFill>
            <a:srgbClr val="92D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CX Mode</a:t>
            </a:r>
          </a:p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SystemC</a:t>
            </a:r>
            <a:endParaRPr kumimoji="1" lang="zh-TW" altLang="en-US" sz="1600" dirty="0">
              <a:solidFill>
                <a:schemeClr val="accent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A2E5F0B4-C55D-F914-EFD6-0314D7DEFA81}"/>
              </a:ext>
            </a:extLst>
          </p:cNvPr>
          <p:cNvSpPr/>
          <p:nvPr/>
        </p:nvSpPr>
        <p:spPr>
          <a:xfrm>
            <a:off x="4909519" y="3423775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Batch</a:t>
            </a:r>
          </a:p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Regression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FD584B10-D77F-0072-384A-21BED18D645C}"/>
              </a:ext>
            </a:extLst>
          </p:cNvPr>
          <p:cNvSpPr/>
          <p:nvPr/>
        </p:nvSpPr>
        <p:spPr>
          <a:xfrm>
            <a:off x="4909516" y="4262176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Profile</a:t>
            </a:r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03FEF97E-6973-4D4E-30A2-D297AB1979B6}"/>
              </a:ext>
            </a:extLst>
          </p:cNvPr>
          <p:cNvCxnSpPr>
            <a:stCxn id="3" idx="3"/>
            <a:endCxn id="8" idx="1"/>
          </p:cNvCxnSpPr>
          <p:nvPr/>
        </p:nvCxnSpPr>
        <p:spPr>
          <a:xfrm flipV="1">
            <a:off x="1839334" y="2140935"/>
            <a:ext cx="718287" cy="162915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AB1EF94F-0BD0-F299-A80F-02A0D74C93A5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1839334" y="2946122"/>
            <a:ext cx="722335" cy="82396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接點 24">
            <a:extLst>
              <a:ext uri="{FF2B5EF4-FFF2-40B4-BE49-F238E27FC236}">
                <a16:creationId xmlns:a16="http://schemas.microsoft.com/office/drawing/2014/main" id="{EAAB0674-FD02-2ED4-147D-170FC6139902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1839334" y="3770090"/>
            <a:ext cx="718288" cy="18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接點 30">
            <a:extLst>
              <a:ext uri="{FF2B5EF4-FFF2-40B4-BE49-F238E27FC236}">
                <a16:creationId xmlns:a16="http://schemas.microsoft.com/office/drawing/2014/main" id="{737AFE7C-DFD0-2922-015D-DE902E2E5E34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839334" y="3770090"/>
            <a:ext cx="718288" cy="85214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>
            <a:extLst>
              <a:ext uri="{FF2B5EF4-FFF2-40B4-BE49-F238E27FC236}">
                <a16:creationId xmlns:a16="http://schemas.microsoft.com/office/drawing/2014/main" id="{CB530386-D45C-EEF5-596C-0C7F6B85B29A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1839334" y="3770090"/>
            <a:ext cx="718287" cy="170974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接點 36">
            <a:extLst>
              <a:ext uri="{FF2B5EF4-FFF2-40B4-BE49-F238E27FC236}">
                <a16:creationId xmlns:a16="http://schemas.microsoft.com/office/drawing/2014/main" id="{3F5AC39D-9930-C7F4-C915-D74839F03E84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1839334" y="3770090"/>
            <a:ext cx="738333" cy="25979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940C6BAF-2E53-2E0E-C201-9AF690F8583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482342" y="5470799"/>
            <a:ext cx="649618" cy="1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曲線接點 28">
            <a:extLst>
              <a:ext uri="{FF2B5EF4-FFF2-40B4-BE49-F238E27FC236}">
                <a16:creationId xmlns:a16="http://schemas.microsoft.com/office/drawing/2014/main" id="{51B3B04E-636E-D494-F6B9-AFE0BB59F8C8}"/>
              </a:ext>
            </a:extLst>
          </p:cNvPr>
          <p:cNvCxnSpPr>
            <a:cxnSpLocks/>
            <a:stCxn id="13" idx="2"/>
            <a:endCxn id="12" idx="1"/>
          </p:cNvCxnSpPr>
          <p:nvPr/>
        </p:nvCxnSpPr>
        <p:spPr>
          <a:xfrm rot="16200000" flipH="1">
            <a:off x="7143815" y="4346499"/>
            <a:ext cx="363001" cy="3252854"/>
          </a:xfrm>
          <a:prstGeom prst="curvedConnector2">
            <a:avLst/>
          </a:prstGeom>
          <a:ln w="41275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曲線接點 29">
            <a:extLst>
              <a:ext uri="{FF2B5EF4-FFF2-40B4-BE49-F238E27FC236}">
                <a16:creationId xmlns:a16="http://schemas.microsoft.com/office/drawing/2014/main" id="{DC2A2C29-2EDF-C3AD-00D3-649A7FEF5842}"/>
              </a:ext>
            </a:extLst>
          </p:cNvPr>
          <p:cNvCxnSpPr>
            <a:cxnSpLocks/>
            <a:stCxn id="52" idx="1"/>
            <a:endCxn id="4" idx="0"/>
          </p:cNvCxnSpPr>
          <p:nvPr/>
        </p:nvCxnSpPr>
        <p:spPr>
          <a:xfrm rot="10800000" flipV="1">
            <a:off x="7896899" y="4582802"/>
            <a:ext cx="1054843" cy="539545"/>
          </a:xfrm>
          <a:prstGeom prst="curvedConnector2">
            <a:avLst/>
          </a:prstGeom>
          <a:ln w="34925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35061FC4-4722-935E-53D8-0378772A85C5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3341076" y="4942861"/>
            <a:ext cx="1" cy="2163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F8B10EC0-4A04-17C6-AC6A-2446036088FF}"/>
              </a:ext>
            </a:extLst>
          </p:cNvPr>
          <p:cNvSpPr/>
          <p:nvPr/>
        </p:nvSpPr>
        <p:spPr>
          <a:xfrm>
            <a:off x="4911989" y="2606672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Waveform</a:t>
            </a: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7CF805D6-1181-06E4-F3DE-EB1791300658}"/>
              </a:ext>
            </a:extLst>
          </p:cNvPr>
          <p:cNvSpPr/>
          <p:nvPr/>
        </p:nvSpPr>
        <p:spPr>
          <a:xfrm>
            <a:off x="4909515" y="1760001"/>
            <a:ext cx="1566909" cy="64125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Log</a:t>
            </a:r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55037F7F-8B4F-EA35-23DC-B831D3BD2F26}"/>
              </a:ext>
            </a:extLst>
          </p:cNvPr>
          <p:cNvSpPr/>
          <p:nvPr/>
        </p:nvSpPr>
        <p:spPr>
          <a:xfrm>
            <a:off x="8951741" y="4262176"/>
            <a:ext cx="1566909" cy="6412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rgbClr val="0070C0"/>
                </a:solidFill>
              </a:rPr>
              <a:t>Yosys</a:t>
            </a:r>
          </a:p>
          <a:p>
            <a:pPr algn="ctr"/>
            <a:r>
              <a:rPr kumimoji="1" lang="en-US" altLang="zh-TW" sz="1600" b="1" dirty="0">
                <a:solidFill>
                  <a:srgbClr val="0070C0"/>
                </a:solidFill>
              </a:rPr>
              <a:t>Synthesis </a:t>
            </a:r>
            <a:endParaRPr kumimoji="1" lang="zh-TW" altLang="en-US" sz="1600" b="1" dirty="0">
              <a:solidFill>
                <a:srgbClr val="0070C0"/>
              </a:solidFill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2BC902F1-0D84-A875-0059-DD615AE59F0E}"/>
              </a:ext>
            </a:extLst>
          </p:cNvPr>
          <p:cNvSpPr/>
          <p:nvPr/>
        </p:nvSpPr>
        <p:spPr>
          <a:xfrm>
            <a:off x="7113443" y="5122348"/>
            <a:ext cx="1566909" cy="641253"/>
          </a:xfrm>
          <a:prstGeom prst="roundRect">
            <a:avLst/>
          </a:prstGeom>
          <a:solidFill>
            <a:srgbClr val="92D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Verilog</a:t>
            </a:r>
          </a:p>
          <a:p>
            <a:pPr algn="ctr"/>
            <a:r>
              <a:rPr kumimoji="1" lang="en-US" altLang="zh-TW" sz="1600" dirty="0">
                <a:solidFill>
                  <a:schemeClr val="accent1"/>
                </a:solidFill>
              </a:rPr>
              <a:t>(</a:t>
            </a:r>
            <a:r>
              <a:rPr kumimoji="1" lang="en-US" altLang="zh-TW" sz="1600" dirty="0" err="1">
                <a:solidFill>
                  <a:schemeClr val="accent1"/>
                </a:solidFill>
              </a:rPr>
              <a:t>hw</a:t>
            </a:r>
            <a:r>
              <a:rPr kumimoji="1" lang="en-US" altLang="zh-TW" sz="1600" dirty="0">
                <a:solidFill>
                  <a:schemeClr val="accent1"/>
                </a:solidFill>
              </a:rPr>
              <a:t>/dpi)</a:t>
            </a:r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C368D016-574C-46A7-8D2E-38DA8CC51388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4124530" y="5470800"/>
            <a:ext cx="790903" cy="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E48AD6-80D6-8F0A-D3B1-97807822609C}"/>
              </a:ext>
            </a:extLst>
          </p:cNvPr>
          <p:cNvSpPr txBox="1"/>
          <p:nvPr/>
        </p:nvSpPr>
        <p:spPr>
          <a:xfrm>
            <a:off x="6473276" y="6155187"/>
            <a:ext cx="1188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b="1" dirty="0"/>
              <a:t>Correlation </a:t>
            </a:r>
            <a:endParaRPr kumimoji="1" lang="zh-TW" altLang="en-US" sz="1600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8991614-6504-71D2-CFD5-9509C9D65394}"/>
              </a:ext>
            </a:extLst>
          </p:cNvPr>
          <p:cNvSpPr txBox="1"/>
          <p:nvPr/>
        </p:nvSpPr>
        <p:spPr>
          <a:xfrm>
            <a:off x="7381440" y="3738196"/>
            <a:ext cx="2094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1. Gate Count</a:t>
            </a:r>
          </a:p>
          <a:p>
            <a:r>
              <a:rPr lang="en-US" altLang="zh-TW" sz="1400" b="1" dirty="0"/>
              <a:t>2. </a:t>
            </a:r>
            <a:r>
              <a:rPr lang="zh-TW" altLang="zh-TW" sz="1400" b="1" dirty="0"/>
              <a:t>Synthesizable</a:t>
            </a:r>
            <a:r>
              <a:rPr kumimoji="1" lang="en-US" altLang="zh-TW" sz="1200" b="1" dirty="0"/>
              <a:t> </a:t>
            </a:r>
            <a:r>
              <a:rPr lang="en-US" altLang="zh-TW" sz="1400" b="1" dirty="0"/>
              <a:t>Checking</a:t>
            </a:r>
            <a:r>
              <a:rPr kumimoji="1" lang="en-US" altLang="zh-TW" sz="1200" b="1" dirty="0"/>
              <a:t>  </a:t>
            </a:r>
            <a:endParaRPr kumimoji="1" lang="zh-TW" altLang="en-US" sz="1200" b="1" dirty="0"/>
          </a:p>
        </p:txBody>
      </p:sp>
      <p:cxnSp>
        <p:nvCxnSpPr>
          <p:cNvPr id="18" name="肘形接點 17">
            <a:extLst>
              <a:ext uri="{FF2B5EF4-FFF2-40B4-BE49-F238E27FC236}">
                <a16:creationId xmlns:a16="http://schemas.microsoft.com/office/drawing/2014/main" id="{9CC16CF1-3755-B319-1B3E-15ED98B31799}"/>
              </a:ext>
            </a:extLst>
          </p:cNvPr>
          <p:cNvCxnSpPr>
            <a:cxnSpLocks/>
            <a:stCxn id="4" idx="3"/>
            <a:endCxn id="12" idx="0"/>
          </p:cNvCxnSpPr>
          <p:nvPr/>
        </p:nvCxnSpPr>
        <p:spPr>
          <a:xfrm>
            <a:off x="8680352" y="5442975"/>
            <a:ext cx="1054845" cy="3908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0F15-41F0-3EE4-95A2-ADFA5ABB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>
            <a:extLst>
              <a:ext uri="{FF2B5EF4-FFF2-40B4-BE49-F238E27FC236}">
                <a16:creationId xmlns:a16="http://schemas.microsoft.com/office/drawing/2014/main" id="{6BC244CD-87E6-AF03-3C71-31DA56D8DEB4}"/>
              </a:ext>
            </a:extLst>
          </p:cNvPr>
          <p:cNvSpPr/>
          <p:nvPr/>
        </p:nvSpPr>
        <p:spPr>
          <a:xfrm>
            <a:off x="457200" y="228600"/>
            <a:ext cx="6674760" cy="59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MDLA7 System Block Diagram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6">
            <a:extLst>
              <a:ext uri="{FF2B5EF4-FFF2-40B4-BE49-F238E27FC236}">
                <a16:creationId xmlns:a16="http://schemas.microsoft.com/office/drawing/2014/main" id="{86A4E1BF-9F4A-DC67-EA9B-102183A6E554}"/>
              </a:ext>
            </a:extLst>
          </p:cNvPr>
          <p:cNvSpPr/>
          <p:nvPr/>
        </p:nvSpPr>
        <p:spPr>
          <a:xfrm>
            <a:off x="151560" y="1729440"/>
            <a:ext cx="1092240" cy="545040"/>
          </a:xfrm>
          <a:prstGeom prst="roundRect">
            <a:avLst>
              <a:gd name="adj" fmla="val 16667"/>
            </a:avLst>
          </a:prstGeom>
          <a:solidFill>
            <a:srgbClr val="E08430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7">
            <a:extLst>
              <a:ext uri="{FF2B5EF4-FFF2-40B4-BE49-F238E27FC236}">
                <a16:creationId xmlns:a16="http://schemas.microsoft.com/office/drawing/2014/main" id="{4E75BBC4-6C8C-7A26-0317-D9158AE70C83}"/>
              </a:ext>
            </a:extLst>
          </p:cNvPr>
          <p:cNvSpPr/>
          <p:nvPr/>
        </p:nvSpPr>
        <p:spPr>
          <a:xfrm>
            <a:off x="163800" y="1914480"/>
            <a:ext cx="95220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9">
            <a:extLst>
              <a:ext uri="{FF2B5EF4-FFF2-40B4-BE49-F238E27FC236}">
                <a16:creationId xmlns:a16="http://schemas.microsoft.com/office/drawing/2014/main" id="{0ECD5E55-82E7-5C43-0EBB-DB9F202E9328}"/>
              </a:ext>
            </a:extLst>
          </p:cNvPr>
          <p:cNvSpPr/>
          <p:nvPr/>
        </p:nvSpPr>
        <p:spPr>
          <a:xfrm>
            <a:off x="2541960" y="1728360"/>
            <a:ext cx="8826840" cy="545040"/>
          </a:xfrm>
          <a:prstGeom prst="roundRect">
            <a:avLst>
              <a:gd name="adj" fmla="val 16667"/>
            </a:avLst>
          </a:prstGeom>
          <a:solidFill>
            <a:srgbClr val="183458"/>
          </a:solidFill>
          <a:ln>
            <a:solidFill>
              <a:srgbClr val="18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10">
            <a:extLst>
              <a:ext uri="{FF2B5EF4-FFF2-40B4-BE49-F238E27FC236}">
                <a16:creationId xmlns:a16="http://schemas.microsoft.com/office/drawing/2014/main" id="{D337F561-35E3-8D8D-B4E4-A99190DA2914}"/>
              </a:ext>
            </a:extLst>
          </p:cNvPr>
          <p:cNvSpPr/>
          <p:nvPr/>
        </p:nvSpPr>
        <p:spPr>
          <a:xfrm>
            <a:off x="2611800" y="1828800"/>
            <a:ext cx="8687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Command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12">
            <a:extLst>
              <a:ext uri="{FF2B5EF4-FFF2-40B4-BE49-F238E27FC236}">
                <a16:creationId xmlns:a16="http://schemas.microsoft.com/office/drawing/2014/main" id="{A0A17A2B-B679-149F-6D78-5AFB904D83BD}"/>
              </a:ext>
            </a:extLst>
          </p:cNvPr>
          <p:cNvCxnSpPr>
            <a:stCxn id="65" idx="3"/>
          </p:cNvCxnSpPr>
          <p:nvPr/>
        </p:nvCxnSpPr>
        <p:spPr>
          <a:xfrm>
            <a:off x="1243800" y="2001960"/>
            <a:ext cx="1298160" cy="3240"/>
          </a:xfrm>
          <a:prstGeom prst="straightConnector1">
            <a:avLst/>
          </a:prstGeom>
          <a:ln w="19050">
            <a:solidFill>
              <a:srgbClr val="5E6875"/>
            </a:solidFill>
            <a:prstDash val="dash"/>
          </a:ln>
        </p:spPr>
      </p:cxnSp>
      <p:sp>
        <p:nvSpPr>
          <p:cNvPr id="70" name="TextBox 13">
            <a:extLst>
              <a:ext uri="{FF2B5EF4-FFF2-40B4-BE49-F238E27FC236}">
                <a16:creationId xmlns:a16="http://schemas.microsoft.com/office/drawing/2014/main" id="{1A77511C-1F97-A192-FCD4-94E73E8EF1BC}"/>
              </a:ext>
            </a:extLst>
          </p:cNvPr>
          <p:cNvSpPr/>
          <p:nvPr/>
        </p:nvSpPr>
        <p:spPr>
          <a:xfrm>
            <a:off x="1523520" y="1797675"/>
            <a:ext cx="756000" cy="40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5E6875"/>
                </a:solidFill>
                <a:effectLst/>
                <a:uFillTx/>
                <a:latin typeface="Calibri"/>
              </a:rPr>
              <a:t>1T</a:t>
            </a:r>
            <a:endParaRPr lang="en-US" sz="1200" b="1" dirty="0">
              <a:solidFill>
                <a:srgbClr val="5E6875"/>
              </a:solidFill>
              <a:latin typeface="Calibri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 dirty="0">
                <a:solidFill>
                  <a:srgbClr val="5E6875"/>
                </a:solidFill>
                <a:effectLst/>
                <a:uFillTx/>
                <a:latin typeface="Calibri"/>
              </a:rPr>
              <a:t>Descriptor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4">
            <a:extLst>
              <a:ext uri="{FF2B5EF4-FFF2-40B4-BE49-F238E27FC236}">
                <a16:creationId xmlns:a16="http://schemas.microsoft.com/office/drawing/2014/main" id="{18DD7C9F-B52E-8F17-87C1-47A222D87A84}"/>
              </a:ext>
            </a:extLst>
          </p:cNvPr>
          <p:cNvSpPr/>
          <p:nvPr/>
        </p:nvSpPr>
        <p:spPr>
          <a:xfrm>
            <a:off x="648049" y="2649600"/>
            <a:ext cx="1572840" cy="964440"/>
          </a:xfrm>
          <a:prstGeom prst="roundRect">
            <a:avLst>
              <a:gd name="adj" fmla="val 16667"/>
            </a:avLst>
          </a:prstGeom>
          <a:solidFill>
            <a:srgbClr val="398E5A"/>
          </a:solidFill>
          <a:ln>
            <a:solidFill>
              <a:srgbClr val="398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5">
            <a:extLst>
              <a:ext uri="{FF2B5EF4-FFF2-40B4-BE49-F238E27FC236}">
                <a16:creationId xmlns:a16="http://schemas.microsoft.com/office/drawing/2014/main" id="{AC2A48A1-D5D6-F284-8283-5BCDEBB1C5DC}"/>
              </a:ext>
            </a:extLst>
          </p:cNvPr>
          <p:cNvSpPr/>
          <p:nvPr/>
        </p:nvSpPr>
        <p:spPr>
          <a:xfrm>
            <a:off x="734089" y="3052080"/>
            <a:ext cx="1433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CONV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7">
            <a:extLst>
              <a:ext uri="{FF2B5EF4-FFF2-40B4-BE49-F238E27FC236}">
                <a16:creationId xmlns:a16="http://schemas.microsoft.com/office/drawing/2014/main" id="{973CDC82-1D1F-631A-0A91-25B46EE8A27B}"/>
              </a:ext>
            </a:extLst>
          </p:cNvPr>
          <p:cNvSpPr/>
          <p:nvPr/>
        </p:nvSpPr>
        <p:spPr>
          <a:xfrm>
            <a:off x="3048840" y="2651040"/>
            <a:ext cx="1572840" cy="964440"/>
          </a:xfrm>
          <a:prstGeom prst="roundRect">
            <a:avLst>
              <a:gd name="adj" fmla="val 16667"/>
            </a:avLst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8">
            <a:extLst>
              <a:ext uri="{FF2B5EF4-FFF2-40B4-BE49-F238E27FC236}">
                <a16:creationId xmlns:a16="http://schemas.microsoft.com/office/drawing/2014/main" id="{63C234E6-8AD5-7734-8F0F-E82DEC6EBF73}"/>
              </a:ext>
            </a:extLst>
          </p:cNvPr>
          <p:cNvSpPr/>
          <p:nvPr/>
        </p:nvSpPr>
        <p:spPr>
          <a:xfrm>
            <a:off x="3134520" y="3053520"/>
            <a:ext cx="1433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Requant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20">
            <a:extLst>
              <a:ext uri="{FF2B5EF4-FFF2-40B4-BE49-F238E27FC236}">
                <a16:creationId xmlns:a16="http://schemas.microsoft.com/office/drawing/2014/main" id="{A0D320B2-D7E4-EBC5-49C6-CFCA48A9D7F8}"/>
              </a:ext>
            </a:extLst>
          </p:cNvPr>
          <p:cNvSpPr/>
          <p:nvPr/>
        </p:nvSpPr>
        <p:spPr>
          <a:xfrm>
            <a:off x="4866840" y="2651040"/>
            <a:ext cx="1572840" cy="964440"/>
          </a:xfrm>
          <a:prstGeom prst="roundRect">
            <a:avLst>
              <a:gd name="adj" fmla="val 16667"/>
            </a:avLst>
          </a:prstGeom>
          <a:solidFill>
            <a:srgbClr val="7E5792"/>
          </a:solidFill>
          <a:ln>
            <a:solidFill>
              <a:srgbClr val="7E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1">
            <a:extLst>
              <a:ext uri="{FF2B5EF4-FFF2-40B4-BE49-F238E27FC236}">
                <a16:creationId xmlns:a16="http://schemas.microsoft.com/office/drawing/2014/main" id="{06B43C88-3368-BE7E-2773-7510081FF227}"/>
              </a:ext>
            </a:extLst>
          </p:cNvPr>
          <p:cNvSpPr/>
          <p:nvPr/>
        </p:nvSpPr>
        <p:spPr>
          <a:xfrm>
            <a:off x="4952520" y="3053520"/>
            <a:ext cx="1433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EWE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23">
            <a:extLst>
              <a:ext uri="{FF2B5EF4-FFF2-40B4-BE49-F238E27FC236}">
                <a16:creationId xmlns:a16="http://schemas.microsoft.com/office/drawing/2014/main" id="{12952FAD-6346-1A9D-79AB-203CB2DFF098}"/>
              </a:ext>
            </a:extLst>
          </p:cNvPr>
          <p:cNvSpPr/>
          <p:nvPr/>
        </p:nvSpPr>
        <p:spPr>
          <a:xfrm>
            <a:off x="6684480" y="2651040"/>
            <a:ext cx="1572840" cy="964440"/>
          </a:xfrm>
          <a:prstGeom prst="roundRect">
            <a:avLst>
              <a:gd name="adj" fmla="val 16667"/>
            </a:avLst>
          </a:prstGeom>
          <a:solidFill>
            <a:srgbClr val="F0C656"/>
          </a:solidFill>
          <a:ln>
            <a:solidFill>
              <a:srgbClr val="F0C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4">
            <a:extLst>
              <a:ext uri="{FF2B5EF4-FFF2-40B4-BE49-F238E27FC236}">
                <a16:creationId xmlns:a16="http://schemas.microsoft.com/office/drawing/2014/main" id="{100B1AE0-0F0E-23DC-A8AE-6F1A733EFF11}"/>
              </a:ext>
            </a:extLst>
          </p:cNvPr>
          <p:cNvSpPr/>
          <p:nvPr/>
        </p:nvSpPr>
        <p:spPr>
          <a:xfrm>
            <a:off x="6770520" y="3053520"/>
            <a:ext cx="1433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POOL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26">
            <a:extLst>
              <a:ext uri="{FF2B5EF4-FFF2-40B4-BE49-F238E27FC236}">
                <a16:creationId xmlns:a16="http://schemas.microsoft.com/office/drawing/2014/main" id="{38F26531-A576-474E-E575-B5FD6344C997}"/>
              </a:ext>
            </a:extLst>
          </p:cNvPr>
          <p:cNvSpPr/>
          <p:nvPr/>
        </p:nvSpPr>
        <p:spPr>
          <a:xfrm>
            <a:off x="8502480" y="2651040"/>
            <a:ext cx="1572840" cy="964440"/>
          </a:xfrm>
          <a:prstGeom prst="roundRect">
            <a:avLst>
              <a:gd name="adj" fmla="val 16667"/>
            </a:avLst>
          </a:prstGeom>
          <a:solidFill>
            <a:srgbClr val="B84141"/>
          </a:solidFill>
          <a:ln>
            <a:solidFill>
              <a:srgbClr val="B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7">
            <a:extLst>
              <a:ext uri="{FF2B5EF4-FFF2-40B4-BE49-F238E27FC236}">
                <a16:creationId xmlns:a16="http://schemas.microsoft.com/office/drawing/2014/main" id="{C838DA3E-F72B-93A6-8CCE-18447FF932DE}"/>
              </a:ext>
            </a:extLst>
          </p:cNvPr>
          <p:cNvSpPr/>
          <p:nvPr/>
        </p:nvSpPr>
        <p:spPr>
          <a:xfrm>
            <a:off x="8588160" y="3053520"/>
            <a:ext cx="1433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TNPS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Connector 31">
            <a:extLst>
              <a:ext uri="{FF2B5EF4-FFF2-40B4-BE49-F238E27FC236}">
                <a16:creationId xmlns:a16="http://schemas.microsoft.com/office/drawing/2014/main" id="{8BCA1794-6270-D2AF-6A64-5C2C60C87FD0}"/>
              </a:ext>
            </a:extLst>
          </p:cNvPr>
          <p:cNvCxnSpPr/>
          <p:nvPr/>
        </p:nvCxnSpPr>
        <p:spPr>
          <a:xfrm>
            <a:off x="3835080" y="2273400"/>
            <a:ext cx="360" cy="377640"/>
          </a:xfrm>
          <a:prstGeom prst="straightConnector1">
            <a:avLst/>
          </a:prstGeom>
          <a:ln w="13970">
            <a:solidFill>
              <a:srgbClr val="5E6875"/>
            </a:solidFill>
            <a:prstDash val="dash"/>
          </a:ln>
        </p:spPr>
      </p:cxnSp>
      <p:sp>
        <p:nvSpPr>
          <p:cNvPr id="82" name="TextBox 32">
            <a:extLst>
              <a:ext uri="{FF2B5EF4-FFF2-40B4-BE49-F238E27FC236}">
                <a16:creationId xmlns:a16="http://schemas.microsoft.com/office/drawing/2014/main" id="{750F6C55-0900-01FB-EDF0-9CED960B11E1}"/>
              </a:ext>
            </a:extLst>
          </p:cNvPr>
          <p:cNvSpPr/>
          <p:nvPr/>
        </p:nvSpPr>
        <p:spPr>
          <a:xfrm>
            <a:off x="3616920" y="2407680"/>
            <a:ext cx="43668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W 1T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Connector 33">
            <a:extLst>
              <a:ext uri="{FF2B5EF4-FFF2-40B4-BE49-F238E27FC236}">
                <a16:creationId xmlns:a16="http://schemas.microsoft.com/office/drawing/2014/main" id="{F9E04526-9DC4-5899-95C2-4181737D9420}"/>
              </a:ext>
            </a:extLst>
          </p:cNvPr>
          <p:cNvCxnSpPr/>
          <p:nvPr/>
        </p:nvCxnSpPr>
        <p:spPr>
          <a:xfrm>
            <a:off x="5653080" y="2273400"/>
            <a:ext cx="360" cy="377640"/>
          </a:xfrm>
          <a:prstGeom prst="straightConnector1">
            <a:avLst/>
          </a:prstGeom>
          <a:ln w="13970">
            <a:solidFill>
              <a:srgbClr val="5E6875"/>
            </a:solidFill>
            <a:prstDash val="dash"/>
          </a:ln>
        </p:spPr>
      </p:cxnSp>
      <p:sp>
        <p:nvSpPr>
          <p:cNvPr id="84" name="TextBox 34">
            <a:extLst>
              <a:ext uri="{FF2B5EF4-FFF2-40B4-BE49-F238E27FC236}">
                <a16:creationId xmlns:a16="http://schemas.microsoft.com/office/drawing/2014/main" id="{74E681F2-8230-4276-FE04-8E892F31EDC5}"/>
              </a:ext>
            </a:extLst>
          </p:cNvPr>
          <p:cNvSpPr/>
          <p:nvPr/>
        </p:nvSpPr>
        <p:spPr>
          <a:xfrm>
            <a:off x="5434920" y="2407680"/>
            <a:ext cx="43668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W 1T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Connector 35">
            <a:extLst>
              <a:ext uri="{FF2B5EF4-FFF2-40B4-BE49-F238E27FC236}">
                <a16:creationId xmlns:a16="http://schemas.microsoft.com/office/drawing/2014/main" id="{EAAD6229-A82C-72D4-BD39-2D4682CEEE8E}"/>
              </a:ext>
            </a:extLst>
          </p:cNvPr>
          <p:cNvCxnSpPr/>
          <p:nvPr/>
        </p:nvCxnSpPr>
        <p:spPr>
          <a:xfrm>
            <a:off x="7471080" y="2273400"/>
            <a:ext cx="360" cy="377640"/>
          </a:xfrm>
          <a:prstGeom prst="straightConnector1">
            <a:avLst/>
          </a:prstGeom>
          <a:ln w="13970">
            <a:solidFill>
              <a:srgbClr val="5E6875"/>
            </a:solidFill>
            <a:prstDash val="dash"/>
          </a:ln>
        </p:spPr>
      </p:cxnSp>
      <p:sp>
        <p:nvSpPr>
          <p:cNvPr id="86" name="TextBox 36">
            <a:extLst>
              <a:ext uri="{FF2B5EF4-FFF2-40B4-BE49-F238E27FC236}">
                <a16:creationId xmlns:a16="http://schemas.microsoft.com/office/drawing/2014/main" id="{FA4BBD47-573E-19D0-56E8-A02E7B80FDE8}"/>
              </a:ext>
            </a:extLst>
          </p:cNvPr>
          <p:cNvSpPr/>
          <p:nvPr/>
        </p:nvSpPr>
        <p:spPr>
          <a:xfrm>
            <a:off x="7252560" y="2407680"/>
            <a:ext cx="43668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W 1T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Connector 37">
            <a:extLst>
              <a:ext uri="{FF2B5EF4-FFF2-40B4-BE49-F238E27FC236}">
                <a16:creationId xmlns:a16="http://schemas.microsoft.com/office/drawing/2014/main" id="{04AD1CE2-AD12-1A6F-7D61-1337415412CD}"/>
              </a:ext>
            </a:extLst>
          </p:cNvPr>
          <p:cNvCxnSpPr/>
          <p:nvPr/>
        </p:nvCxnSpPr>
        <p:spPr>
          <a:xfrm>
            <a:off x="9289080" y="2273400"/>
            <a:ext cx="360" cy="377640"/>
          </a:xfrm>
          <a:prstGeom prst="straightConnector1">
            <a:avLst/>
          </a:prstGeom>
          <a:ln w="13970">
            <a:solidFill>
              <a:srgbClr val="5E6875"/>
            </a:solidFill>
            <a:prstDash val="dash"/>
          </a:ln>
        </p:spPr>
      </p:cxnSp>
      <p:sp>
        <p:nvSpPr>
          <p:cNvPr id="88" name="TextBox 38">
            <a:extLst>
              <a:ext uri="{FF2B5EF4-FFF2-40B4-BE49-F238E27FC236}">
                <a16:creationId xmlns:a16="http://schemas.microsoft.com/office/drawing/2014/main" id="{3CF09302-2589-ECCD-90EA-8580BB99EB9E}"/>
              </a:ext>
            </a:extLst>
          </p:cNvPr>
          <p:cNvSpPr/>
          <p:nvPr/>
        </p:nvSpPr>
        <p:spPr>
          <a:xfrm>
            <a:off x="9070560" y="2407680"/>
            <a:ext cx="43668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W 1T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39">
            <a:extLst>
              <a:ext uri="{FF2B5EF4-FFF2-40B4-BE49-F238E27FC236}">
                <a16:creationId xmlns:a16="http://schemas.microsoft.com/office/drawing/2014/main" id="{12E597D2-C580-BEEC-1B0E-7195BF9BDB0D}"/>
              </a:ext>
            </a:extLst>
          </p:cNvPr>
          <p:cNvSpPr/>
          <p:nvPr/>
        </p:nvSpPr>
        <p:spPr>
          <a:xfrm>
            <a:off x="648049" y="4243320"/>
            <a:ext cx="1572840" cy="654120"/>
          </a:xfrm>
          <a:prstGeom prst="roundRect">
            <a:avLst>
              <a:gd name="adj" fmla="val 16667"/>
            </a:avLst>
          </a:prstGeom>
          <a:solidFill>
            <a:srgbClr val="B84141"/>
          </a:solidFill>
          <a:ln>
            <a:solidFill>
              <a:srgbClr val="B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40">
            <a:extLst>
              <a:ext uri="{FF2B5EF4-FFF2-40B4-BE49-F238E27FC236}">
                <a16:creationId xmlns:a16="http://schemas.microsoft.com/office/drawing/2014/main" id="{17FA7EAF-7670-9931-57F8-76CD5B7966E6}"/>
              </a:ext>
            </a:extLst>
          </p:cNvPr>
          <p:cNvSpPr/>
          <p:nvPr/>
        </p:nvSpPr>
        <p:spPr>
          <a:xfrm>
            <a:off x="717889" y="4344120"/>
            <a:ext cx="1433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L1Mesh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1">
            <a:extLst>
              <a:ext uri="{FF2B5EF4-FFF2-40B4-BE49-F238E27FC236}">
                <a16:creationId xmlns:a16="http://schemas.microsoft.com/office/drawing/2014/main" id="{5E1E1B2B-A810-5178-0AD0-915892CF5959}"/>
              </a:ext>
            </a:extLst>
          </p:cNvPr>
          <p:cNvSpPr/>
          <p:nvPr/>
        </p:nvSpPr>
        <p:spPr>
          <a:xfrm>
            <a:off x="753169" y="4604040"/>
            <a:ext cx="136296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MB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42">
            <a:extLst>
              <a:ext uri="{FF2B5EF4-FFF2-40B4-BE49-F238E27FC236}">
                <a16:creationId xmlns:a16="http://schemas.microsoft.com/office/drawing/2014/main" id="{B96DB36B-114F-E2DC-8BA0-AB6993F7E3ED}"/>
              </a:ext>
            </a:extLst>
          </p:cNvPr>
          <p:cNvSpPr/>
          <p:nvPr/>
        </p:nvSpPr>
        <p:spPr>
          <a:xfrm>
            <a:off x="3153600" y="4244760"/>
            <a:ext cx="8215200" cy="654120"/>
          </a:xfrm>
          <a:prstGeom prst="roundRect">
            <a:avLst>
              <a:gd name="adj" fmla="val 16667"/>
            </a:avLst>
          </a:prstGeom>
          <a:solidFill>
            <a:srgbClr val="F0C656"/>
          </a:solidFill>
          <a:ln>
            <a:solidFill>
              <a:srgbClr val="F0C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43">
            <a:extLst>
              <a:ext uri="{FF2B5EF4-FFF2-40B4-BE49-F238E27FC236}">
                <a16:creationId xmlns:a16="http://schemas.microsoft.com/office/drawing/2014/main" id="{EF70868E-32C3-EDC5-AAC1-78D2C12109DC}"/>
              </a:ext>
            </a:extLst>
          </p:cNvPr>
          <p:cNvSpPr/>
          <p:nvPr/>
        </p:nvSpPr>
        <p:spPr>
          <a:xfrm>
            <a:off x="3223440" y="4345560"/>
            <a:ext cx="8075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L1_Manager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Connector 45">
            <a:extLst>
              <a:ext uri="{FF2B5EF4-FFF2-40B4-BE49-F238E27FC236}">
                <a16:creationId xmlns:a16="http://schemas.microsoft.com/office/drawing/2014/main" id="{53DC3065-9F0D-651C-79BE-48BA56DDD6B0}"/>
              </a:ext>
            </a:extLst>
          </p:cNvPr>
          <p:cNvCxnSpPr/>
          <p:nvPr/>
        </p:nvCxnSpPr>
        <p:spPr>
          <a:xfrm flipV="1">
            <a:off x="1347169" y="3614040"/>
            <a:ext cx="360" cy="629640"/>
          </a:xfrm>
          <a:prstGeom prst="straightConnector1">
            <a:avLst/>
          </a:prstGeom>
          <a:ln w="31750">
            <a:solidFill>
              <a:srgbClr val="2E65B4"/>
            </a:solidFill>
          </a:ln>
        </p:spPr>
      </p:cxnSp>
      <p:sp>
        <p:nvSpPr>
          <p:cNvPr id="95" name="TextBox 46">
            <a:extLst>
              <a:ext uri="{FF2B5EF4-FFF2-40B4-BE49-F238E27FC236}">
                <a16:creationId xmlns:a16="http://schemas.microsoft.com/office/drawing/2014/main" id="{55180134-01F1-348F-423D-FFE7A0544EC2}"/>
              </a:ext>
            </a:extLst>
          </p:cNvPr>
          <p:cNvSpPr/>
          <p:nvPr/>
        </p:nvSpPr>
        <p:spPr>
          <a:xfrm>
            <a:off x="276799" y="3818520"/>
            <a:ext cx="135432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32x16B R ACT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nector 47">
            <a:extLst>
              <a:ext uri="{FF2B5EF4-FFF2-40B4-BE49-F238E27FC236}">
                <a16:creationId xmlns:a16="http://schemas.microsoft.com/office/drawing/2014/main" id="{7820E27A-A035-DE9C-5DBA-3D3C3BDB2FC1}"/>
              </a:ext>
            </a:extLst>
          </p:cNvPr>
          <p:cNvCxnSpPr/>
          <p:nvPr/>
        </p:nvCxnSpPr>
        <p:spPr>
          <a:xfrm flipV="1">
            <a:off x="1696729" y="3614040"/>
            <a:ext cx="360" cy="629640"/>
          </a:xfrm>
          <a:prstGeom prst="straightConnector1">
            <a:avLst/>
          </a:prstGeom>
          <a:ln w="31750">
            <a:solidFill>
              <a:srgbClr val="2E65B4"/>
            </a:solidFill>
          </a:ln>
        </p:spPr>
      </p:cxnSp>
      <p:sp>
        <p:nvSpPr>
          <p:cNvPr id="97" name="TextBox 48">
            <a:extLst>
              <a:ext uri="{FF2B5EF4-FFF2-40B4-BE49-F238E27FC236}">
                <a16:creationId xmlns:a16="http://schemas.microsoft.com/office/drawing/2014/main" id="{9305B625-23DD-7AE9-2D61-ECC9517A02CA}"/>
              </a:ext>
            </a:extLst>
          </p:cNvPr>
          <p:cNvSpPr/>
          <p:nvPr/>
        </p:nvSpPr>
        <p:spPr>
          <a:xfrm>
            <a:off x="1621572" y="3824640"/>
            <a:ext cx="1004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32x16B R WGT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Connector 49">
            <a:extLst>
              <a:ext uri="{FF2B5EF4-FFF2-40B4-BE49-F238E27FC236}">
                <a16:creationId xmlns:a16="http://schemas.microsoft.com/office/drawing/2014/main" id="{F8303900-B0F7-D015-9A13-BAED6D653503}"/>
              </a:ext>
            </a:extLst>
          </p:cNvPr>
          <p:cNvCxnSpPr/>
          <p:nvPr/>
        </p:nvCxnSpPr>
        <p:spPr>
          <a:xfrm>
            <a:off x="3835080" y="3615480"/>
            <a:ext cx="360" cy="629640"/>
          </a:xfrm>
          <a:prstGeom prst="straightConnector1">
            <a:avLst/>
          </a:prstGeom>
          <a:ln w="26670">
            <a:solidFill>
              <a:srgbClr val="2E65B4"/>
            </a:solidFill>
          </a:ln>
        </p:spPr>
      </p:cxnSp>
      <p:sp>
        <p:nvSpPr>
          <p:cNvPr id="99" name="TextBox 50">
            <a:extLst>
              <a:ext uri="{FF2B5EF4-FFF2-40B4-BE49-F238E27FC236}">
                <a16:creationId xmlns:a16="http://schemas.microsoft.com/office/drawing/2014/main" id="{C985806B-22F4-B2A7-D9E0-4A38B1CD8169}"/>
              </a:ext>
            </a:extLst>
          </p:cNvPr>
          <p:cNvSpPr/>
          <p:nvPr/>
        </p:nvSpPr>
        <p:spPr>
          <a:xfrm>
            <a:off x="3749082" y="3837214"/>
            <a:ext cx="698760" cy="314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8R/8W (16Bytes)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Connector 51">
            <a:extLst>
              <a:ext uri="{FF2B5EF4-FFF2-40B4-BE49-F238E27FC236}">
                <a16:creationId xmlns:a16="http://schemas.microsoft.com/office/drawing/2014/main" id="{98888DE2-AFAA-0F43-A804-CE150CB81C61}"/>
              </a:ext>
            </a:extLst>
          </p:cNvPr>
          <p:cNvCxnSpPr/>
          <p:nvPr/>
        </p:nvCxnSpPr>
        <p:spPr>
          <a:xfrm>
            <a:off x="5653080" y="3615480"/>
            <a:ext cx="360" cy="629640"/>
          </a:xfrm>
          <a:prstGeom prst="straightConnector1">
            <a:avLst/>
          </a:prstGeom>
          <a:ln w="26670">
            <a:solidFill>
              <a:srgbClr val="2E65B4"/>
            </a:solidFill>
          </a:ln>
        </p:spPr>
      </p:cxnSp>
      <p:sp>
        <p:nvSpPr>
          <p:cNvPr id="101" name="TextBox 52">
            <a:extLst>
              <a:ext uri="{FF2B5EF4-FFF2-40B4-BE49-F238E27FC236}">
                <a16:creationId xmlns:a16="http://schemas.microsoft.com/office/drawing/2014/main" id="{0D83CF9F-203F-EFCB-9509-92AFB2E674B2}"/>
              </a:ext>
            </a:extLst>
          </p:cNvPr>
          <p:cNvSpPr/>
          <p:nvPr/>
        </p:nvSpPr>
        <p:spPr>
          <a:xfrm>
            <a:off x="5531580" y="3818520"/>
            <a:ext cx="698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16R/8W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Connector 53">
            <a:extLst>
              <a:ext uri="{FF2B5EF4-FFF2-40B4-BE49-F238E27FC236}">
                <a16:creationId xmlns:a16="http://schemas.microsoft.com/office/drawing/2014/main" id="{00D21617-89A7-BA5B-8212-294F9270E89C}"/>
              </a:ext>
            </a:extLst>
          </p:cNvPr>
          <p:cNvCxnSpPr/>
          <p:nvPr/>
        </p:nvCxnSpPr>
        <p:spPr>
          <a:xfrm>
            <a:off x="7471080" y="3615480"/>
            <a:ext cx="360" cy="629640"/>
          </a:xfrm>
          <a:prstGeom prst="straightConnector1">
            <a:avLst/>
          </a:prstGeom>
          <a:ln w="26670">
            <a:solidFill>
              <a:srgbClr val="2E65B4"/>
            </a:solidFill>
          </a:ln>
        </p:spPr>
      </p:cxnSp>
      <p:sp>
        <p:nvSpPr>
          <p:cNvPr id="103" name="TextBox 54">
            <a:extLst>
              <a:ext uri="{FF2B5EF4-FFF2-40B4-BE49-F238E27FC236}">
                <a16:creationId xmlns:a16="http://schemas.microsoft.com/office/drawing/2014/main" id="{18C3E944-D8C4-BEBB-8401-D692DC3C780F}"/>
              </a:ext>
            </a:extLst>
          </p:cNvPr>
          <p:cNvSpPr/>
          <p:nvPr/>
        </p:nvSpPr>
        <p:spPr>
          <a:xfrm>
            <a:off x="7398907" y="3818520"/>
            <a:ext cx="698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16R/8W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Connector 55">
            <a:extLst>
              <a:ext uri="{FF2B5EF4-FFF2-40B4-BE49-F238E27FC236}">
                <a16:creationId xmlns:a16="http://schemas.microsoft.com/office/drawing/2014/main" id="{7A0E8039-7139-5CAE-A17F-5D9BE9CD2EA3}"/>
              </a:ext>
            </a:extLst>
          </p:cNvPr>
          <p:cNvCxnSpPr/>
          <p:nvPr/>
        </p:nvCxnSpPr>
        <p:spPr>
          <a:xfrm>
            <a:off x="9289080" y="3615480"/>
            <a:ext cx="360" cy="629640"/>
          </a:xfrm>
          <a:prstGeom prst="straightConnector1">
            <a:avLst/>
          </a:prstGeom>
          <a:ln w="26670">
            <a:solidFill>
              <a:srgbClr val="2E65B4"/>
            </a:solidFill>
          </a:ln>
        </p:spPr>
      </p:cxnSp>
      <p:sp>
        <p:nvSpPr>
          <p:cNvPr id="105" name="TextBox 56">
            <a:extLst>
              <a:ext uri="{FF2B5EF4-FFF2-40B4-BE49-F238E27FC236}">
                <a16:creationId xmlns:a16="http://schemas.microsoft.com/office/drawing/2014/main" id="{FCBEB125-05C1-D575-55C5-270CF3EC82F3}"/>
              </a:ext>
            </a:extLst>
          </p:cNvPr>
          <p:cNvSpPr/>
          <p:nvPr/>
        </p:nvSpPr>
        <p:spPr>
          <a:xfrm>
            <a:off x="9157860" y="3818520"/>
            <a:ext cx="698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8R/8W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Connector 57">
            <a:extLst>
              <a:ext uri="{FF2B5EF4-FFF2-40B4-BE49-F238E27FC236}">
                <a16:creationId xmlns:a16="http://schemas.microsoft.com/office/drawing/2014/main" id="{099C6A4F-EA26-2DA7-40AC-6638DF4770D0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2220889" y="4570380"/>
            <a:ext cx="933071" cy="1620"/>
          </a:xfrm>
          <a:prstGeom prst="straightConnector1">
            <a:avLst/>
          </a:prstGeom>
          <a:ln w="26670">
            <a:solidFill>
              <a:srgbClr val="2E65B4"/>
            </a:solidFill>
          </a:ln>
        </p:spPr>
      </p:cxnSp>
      <p:sp>
        <p:nvSpPr>
          <p:cNvPr id="107" name="TextBox 58">
            <a:extLst>
              <a:ext uri="{FF2B5EF4-FFF2-40B4-BE49-F238E27FC236}">
                <a16:creationId xmlns:a16="http://schemas.microsoft.com/office/drawing/2014/main" id="{DD9A1F8F-2B8B-0D92-B5A1-2C05061EBA41}"/>
              </a:ext>
            </a:extLst>
          </p:cNvPr>
          <p:cNvSpPr/>
          <p:nvPr/>
        </p:nvSpPr>
        <p:spPr>
          <a:xfrm>
            <a:off x="2326009" y="4648384"/>
            <a:ext cx="698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E65B4"/>
                </a:solidFill>
                <a:effectLst/>
                <a:uFillTx/>
                <a:latin typeface="Calibri"/>
              </a:rPr>
              <a:t>16R/16W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59">
            <a:extLst>
              <a:ext uri="{FF2B5EF4-FFF2-40B4-BE49-F238E27FC236}">
                <a16:creationId xmlns:a16="http://schemas.microsoft.com/office/drawing/2014/main" id="{24DACB0B-72AB-3B56-52D8-31FBA3C4E52C}"/>
              </a:ext>
            </a:extLst>
          </p:cNvPr>
          <p:cNvSpPr/>
          <p:nvPr/>
        </p:nvSpPr>
        <p:spPr>
          <a:xfrm>
            <a:off x="3153600" y="5276520"/>
            <a:ext cx="8215200" cy="443292"/>
          </a:xfrm>
          <a:prstGeom prst="roundRect">
            <a:avLst>
              <a:gd name="adj" fmla="val 16667"/>
            </a:avLst>
          </a:prstGeom>
          <a:solidFill>
            <a:srgbClr val="7E5792"/>
          </a:solidFill>
          <a:ln>
            <a:solidFill>
              <a:srgbClr val="7E5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4D246C16-EF35-9F7F-259C-0332850DBBFC}"/>
              </a:ext>
            </a:extLst>
          </p:cNvPr>
          <p:cNvSpPr/>
          <p:nvPr/>
        </p:nvSpPr>
        <p:spPr>
          <a:xfrm>
            <a:off x="3223440" y="5377320"/>
            <a:ext cx="8075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UDMA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Connector 62">
            <a:extLst>
              <a:ext uri="{FF2B5EF4-FFF2-40B4-BE49-F238E27FC236}">
                <a16:creationId xmlns:a16="http://schemas.microsoft.com/office/drawing/2014/main" id="{17BC2CD5-0CEE-CCBF-3327-10A6323F5B53}"/>
              </a:ext>
            </a:extLst>
          </p:cNvPr>
          <p:cNvCxnSpPr/>
          <p:nvPr/>
        </p:nvCxnSpPr>
        <p:spPr>
          <a:xfrm>
            <a:off x="7261200" y="4898880"/>
            <a:ext cx="360" cy="378000"/>
          </a:xfrm>
          <a:prstGeom prst="straightConnector1">
            <a:avLst/>
          </a:prstGeom>
          <a:ln w="26670">
            <a:solidFill>
              <a:srgbClr val="2E65B4"/>
            </a:solidFill>
          </a:ln>
        </p:spPr>
      </p:cxnSp>
      <p:sp>
        <p:nvSpPr>
          <p:cNvPr id="111" name="TextBox 63">
            <a:extLst>
              <a:ext uri="{FF2B5EF4-FFF2-40B4-BE49-F238E27FC236}">
                <a16:creationId xmlns:a16="http://schemas.microsoft.com/office/drawing/2014/main" id="{C1D8BE11-F790-52E6-F1A4-1BB20438557B}"/>
              </a:ext>
            </a:extLst>
          </p:cNvPr>
          <p:cNvSpPr/>
          <p:nvPr/>
        </p:nvSpPr>
        <p:spPr>
          <a:xfrm>
            <a:off x="7252560" y="5015864"/>
            <a:ext cx="698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16R/16W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64">
            <a:extLst>
              <a:ext uri="{FF2B5EF4-FFF2-40B4-BE49-F238E27FC236}">
                <a16:creationId xmlns:a16="http://schemas.microsoft.com/office/drawing/2014/main" id="{9E677284-EF84-8533-0E2E-842705383845}"/>
              </a:ext>
            </a:extLst>
          </p:cNvPr>
          <p:cNvSpPr/>
          <p:nvPr/>
        </p:nvSpPr>
        <p:spPr>
          <a:xfrm>
            <a:off x="3153600" y="6193549"/>
            <a:ext cx="8215200" cy="402120"/>
          </a:xfrm>
          <a:prstGeom prst="roundRect">
            <a:avLst>
              <a:gd name="adj" fmla="val 16667"/>
            </a:avLst>
          </a:prstGeom>
          <a:solidFill>
            <a:srgbClr val="5E6875"/>
          </a:solidFill>
          <a:ln>
            <a:solidFill>
              <a:srgbClr val="5E6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65">
            <a:extLst>
              <a:ext uri="{FF2B5EF4-FFF2-40B4-BE49-F238E27FC236}">
                <a16:creationId xmlns:a16="http://schemas.microsoft.com/office/drawing/2014/main" id="{10814DC8-64C8-6CF9-CB63-0B36922A2735}"/>
              </a:ext>
            </a:extLst>
          </p:cNvPr>
          <p:cNvSpPr/>
          <p:nvPr/>
        </p:nvSpPr>
        <p:spPr>
          <a:xfrm>
            <a:off x="3223440" y="6293989"/>
            <a:ext cx="807516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 GB DRAM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Connector 67">
            <a:extLst>
              <a:ext uri="{FF2B5EF4-FFF2-40B4-BE49-F238E27FC236}">
                <a16:creationId xmlns:a16="http://schemas.microsoft.com/office/drawing/2014/main" id="{DB661ADB-B0F4-47BF-2D3B-644654C894BB}"/>
              </a:ext>
            </a:extLst>
          </p:cNvPr>
          <p:cNvCxnSpPr>
            <a:cxnSpLocks/>
          </p:cNvCxnSpPr>
          <p:nvPr/>
        </p:nvCxnSpPr>
        <p:spPr>
          <a:xfrm>
            <a:off x="6999120" y="5796360"/>
            <a:ext cx="0" cy="354889"/>
          </a:xfrm>
          <a:prstGeom prst="straightConnector1">
            <a:avLst/>
          </a:prstGeom>
          <a:ln w="17780">
            <a:solidFill>
              <a:srgbClr val="5E6875"/>
            </a:solidFill>
            <a:prstDash val="dash"/>
          </a:ln>
        </p:spPr>
      </p:cxnSp>
      <p:cxnSp>
        <p:nvCxnSpPr>
          <p:cNvPr id="115" name="Connector 68">
            <a:extLst>
              <a:ext uri="{FF2B5EF4-FFF2-40B4-BE49-F238E27FC236}">
                <a16:creationId xmlns:a16="http://schemas.microsoft.com/office/drawing/2014/main" id="{0135B117-BDF0-E7E2-CCE1-1E39EE08EAE1}"/>
              </a:ext>
            </a:extLst>
          </p:cNvPr>
          <p:cNvCxnSpPr>
            <a:cxnSpLocks/>
          </p:cNvCxnSpPr>
          <p:nvPr/>
        </p:nvCxnSpPr>
        <p:spPr>
          <a:xfrm>
            <a:off x="7523640" y="5796360"/>
            <a:ext cx="0" cy="354889"/>
          </a:xfrm>
          <a:prstGeom prst="straightConnector1">
            <a:avLst/>
          </a:prstGeom>
          <a:ln w="17780">
            <a:solidFill>
              <a:srgbClr val="5E6875"/>
            </a:solidFill>
            <a:prstDash val="dash"/>
          </a:ln>
        </p:spPr>
      </p:cxnSp>
      <p:sp>
        <p:nvSpPr>
          <p:cNvPr id="116" name="TextBox 69">
            <a:extLst>
              <a:ext uri="{FF2B5EF4-FFF2-40B4-BE49-F238E27FC236}">
                <a16:creationId xmlns:a16="http://schemas.microsoft.com/office/drawing/2014/main" id="{E5909C86-E77A-A5CD-5D35-6C848D5F03EB}"/>
              </a:ext>
            </a:extLst>
          </p:cNvPr>
          <p:cNvSpPr/>
          <p:nvPr/>
        </p:nvSpPr>
        <p:spPr>
          <a:xfrm>
            <a:off x="6407087" y="5891051"/>
            <a:ext cx="43668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5E6875"/>
                </a:solidFill>
                <a:effectLst/>
                <a:uFillTx/>
                <a:latin typeface="Calibri"/>
              </a:rPr>
              <a:t>AXI_R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70">
            <a:extLst>
              <a:ext uri="{FF2B5EF4-FFF2-40B4-BE49-F238E27FC236}">
                <a16:creationId xmlns:a16="http://schemas.microsoft.com/office/drawing/2014/main" id="{BF8D7BFD-66DC-B7D0-FC4F-CE1D2811C418}"/>
              </a:ext>
            </a:extLst>
          </p:cNvPr>
          <p:cNvSpPr/>
          <p:nvPr/>
        </p:nvSpPr>
        <p:spPr>
          <a:xfrm>
            <a:off x="7660987" y="5880600"/>
            <a:ext cx="43668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5E6875"/>
                </a:solidFill>
                <a:effectLst/>
                <a:uFillTx/>
                <a:latin typeface="Calibri"/>
              </a:rPr>
              <a:t>AXI_W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1">
            <a:extLst>
              <a:ext uri="{FF2B5EF4-FFF2-40B4-BE49-F238E27FC236}">
                <a16:creationId xmlns:a16="http://schemas.microsoft.com/office/drawing/2014/main" id="{E3331052-6D3D-B92E-E5E9-8B99EDAA71DC}"/>
              </a:ext>
            </a:extLst>
          </p:cNvPr>
          <p:cNvSpPr/>
          <p:nvPr/>
        </p:nvSpPr>
        <p:spPr>
          <a:xfrm>
            <a:off x="1143360" y="5670720"/>
            <a:ext cx="1485360" cy="2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Legend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Connector 72">
            <a:extLst>
              <a:ext uri="{FF2B5EF4-FFF2-40B4-BE49-F238E27FC236}">
                <a16:creationId xmlns:a16="http://schemas.microsoft.com/office/drawing/2014/main" id="{1E0E8756-7DC1-93FF-E55F-17A1D172834B}"/>
              </a:ext>
            </a:extLst>
          </p:cNvPr>
          <p:cNvCxnSpPr/>
          <p:nvPr/>
        </p:nvCxnSpPr>
        <p:spPr>
          <a:xfrm>
            <a:off x="1186920" y="5981040"/>
            <a:ext cx="481320" cy="360"/>
          </a:xfrm>
          <a:prstGeom prst="straightConnector1">
            <a:avLst/>
          </a:prstGeom>
          <a:ln w="29209">
            <a:solidFill>
              <a:srgbClr val="2E65B4"/>
            </a:solidFill>
          </a:ln>
        </p:spPr>
      </p:cxnSp>
      <p:sp>
        <p:nvSpPr>
          <p:cNvPr id="120" name="TextBox 73">
            <a:extLst>
              <a:ext uri="{FF2B5EF4-FFF2-40B4-BE49-F238E27FC236}">
                <a16:creationId xmlns:a16="http://schemas.microsoft.com/office/drawing/2014/main" id="{F057C148-2FB4-5B19-5E90-B0D9DB499BA4}"/>
              </a:ext>
            </a:extLst>
          </p:cNvPr>
          <p:cNvSpPr/>
          <p:nvPr/>
        </p:nvSpPr>
        <p:spPr>
          <a:xfrm>
            <a:off x="1729080" y="5880600"/>
            <a:ext cx="122328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Payload lanes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Connector 74">
            <a:extLst>
              <a:ext uri="{FF2B5EF4-FFF2-40B4-BE49-F238E27FC236}">
                <a16:creationId xmlns:a16="http://schemas.microsoft.com/office/drawing/2014/main" id="{3F546714-5D27-6320-D46F-BB1185B34FA1}"/>
              </a:ext>
            </a:extLst>
          </p:cNvPr>
          <p:cNvCxnSpPr/>
          <p:nvPr/>
        </p:nvCxnSpPr>
        <p:spPr>
          <a:xfrm>
            <a:off x="1186920" y="6240960"/>
            <a:ext cx="481320" cy="360"/>
          </a:xfrm>
          <a:prstGeom prst="straightConnector1">
            <a:avLst/>
          </a:prstGeom>
          <a:ln w="17780">
            <a:solidFill>
              <a:srgbClr val="5E6875"/>
            </a:solidFill>
            <a:prstDash val="dash"/>
          </a:ln>
        </p:spPr>
      </p:cxnSp>
      <p:sp>
        <p:nvSpPr>
          <p:cNvPr id="122" name="TextBox 75">
            <a:extLst>
              <a:ext uri="{FF2B5EF4-FFF2-40B4-BE49-F238E27FC236}">
                <a16:creationId xmlns:a16="http://schemas.microsoft.com/office/drawing/2014/main" id="{CBF58515-E366-09AE-5273-1F41464E7AC6}"/>
              </a:ext>
            </a:extLst>
          </p:cNvPr>
          <p:cNvSpPr/>
          <p:nvPr/>
        </p:nvSpPr>
        <p:spPr>
          <a:xfrm>
            <a:off x="1729080" y="6140520"/>
            <a:ext cx="1441800" cy="18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1T config/control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>
            <a:extLst>
              <a:ext uri="{FF2B5EF4-FFF2-40B4-BE49-F238E27FC236}">
                <a16:creationId xmlns:a16="http://schemas.microsoft.com/office/drawing/2014/main" id="{6CC079D7-68F7-0AFF-53A8-6D5877BA4485}"/>
              </a:ext>
            </a:extLst>
          </p:cNvPr>
          <p:cNvSpPr/>
          <p:nvPr/>
        </p:nvSpPr>
        <p:spPr>
          <a:xfrm>
            <a:off x="1055880" y="1132920"/>
            <a:ext cx="632556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Hand Sketch 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Calibri"/>
                <a:ea typeface="Noto Sans TC"/>
              </a:rPr>
              <a:t> Picture 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lang="en-US" sz="24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 Drawio (by AI)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7B347E2-4977-E393-2F85-880AB4B918C9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4" name="Connector 49">
            <a:extLst>
              <a:ext uri="{FF2B5EF4-FFF2-40B4-BE49-F238E27FC236}">
                <a16:creationId xmlns:a16="http://schemas.microsoft.com/office/drawing/2014/main" id="{53923F41-5B32-A944-6754-D167C15E392C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>
            <a:off x="2220889" y="3131820"/>
            <a:ext cx="827951" cy="1440"/>
          </a:xfrm>
          <a:prstGeom prst="straightConnector1">
            <a:avLst/>
          </a:prstGeom>
          <a:ln w="26670">
            <a:solidFill>
              <a:srgbClr val="2E65B4"/>
            </a:solidFill>
          </a:ln>
        </p:spPr>
      </p:cxnSp>
      <p:sp>
        <p:nvSpPr>
          <p:cNvPr id="7" name="TextBox 48">
            <a:extLst>
              <a:ext uri="{FF2B5EF4-FFF2-40B4-BE49-F238E27FC236}">
                <a16:creationId xmlns:a16="http://schemas.microsoft.com/office/drawing/2014/main" id="{2315690D-9206-060A-0550-7165C9990433}"/>
              </a:ext>
            </a:extLst>
          </p:cNvPr>
          <p:cNvSpPr/>
          <p:nvPr/>
        </p:nvSpPr>
        <p:spPr>
          <a:xfrm>
            <a:off x="2141944" y="2895465"/>
            <a:ext cx="1004760" cy="17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E65B4"/>
                </a:solidFill>
                <a:effectLst/>
                <a:uFillTx/>
                <a:latin typeface="Calibri"/>
              </a:rPr>
              <a:t>4096b/</a:t>
            </a:r>
            <a:r>
              <a:rPr lang="en-US" sz="900" b="1" u="none" strike="noStrike" dirty="0" err="1">
                <a:solidFill>
                  <a:srgbClr val="2E65B4"/>
                </a:solidFill>
                <a:effectLst/>
                <a:uFillTx/>
                <a:latin typeface="Calibri"/>
              </a:rPr>
              <a:t>cyc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7466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502920" y="255960"/>
            <a:ext cx="786348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Module Functions and Throughput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群組 55"/>
          <p:cNvGrpSpPr/>
          <p:nvPr/>
        </p:nvGrpSpPr>
        <p:grpSpPr>
          <a:xfrm>
            <a:off x="501840" y="1080000"/>
            <a:ext cx="7058160" cy="4710960"/>
            <a:chOff x="501840" y="1080000"/>
            <a:chExt cx="7058160" cy="4710960"/>
          </a:xfrm>
        </p:grpSpPr>
        <p:sp>
          <p:nvSpPr>
            <p:cNvPr id="126" name="Rectangle 3"/>
            <p:cNvSpPr/>
            <p:nvPr/>
          </p:nvSpPr>
          <p:spPr>
            <a:xfrm>
              <a:off x="501840" y="1080000"/>
              <a:ext cx="7058160" cy="3888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6920" rIns="36720" bIns="1692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7" name="Rectangle 4"/>
            <p:cNvSpPr/>
            <p:nvPr/>
          </p:nvSpPr>
          <p:spPr>
            <a:xfrm>
              <a:off x="501840" y="1380240"/>
              <a:ext cx="835200" cy="549000"/>
            </a:xfrm>
            <a:prstGeom prst="rect">
              <a:avLst/>
            </a:prstGeom>
            <a:solidFill>
              <a:srgbClr val="183458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TextBox 5"/>
            <p:cNvSpPr/>
            <p:nvPr/>
          </p:nvSpPr>
          <p:spPr>
            <a:xfrm>
              <a:off x="530640" y="1497960"/>
              <a:ext cx="77760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600" b="1" u="none" strike="noStrike" dirty="0">
                  <a:solidFill>
                    <a:srgbClr val="FFFFFF"/>
                  </a:solidFill>
                  <a:effectLst/>
                  <a:uFillTx/>
                  <a:latin typeface="Calibri"/>
                </a:rPr>
                <a:t>Module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Rectangle 6"/>
            <p:cNvSpPr/>
            <p:nvPr/>
          </p:nvSpPr>
          <p:spPr>
            <a:xfrm>
              <a:off x="1337400" y="1380240"/>
              <a:ext cx="2448720" cy="549000"/>
            </a:xfrm>
            <a:prstGeom prst="rect">
              <a:avLst/>
            </a:prstGeom>
            <a:solidFill>
              <a:srgbClr val="183458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Box 7"/>
            <p:cNvSpPr/>
            <p:nvPr/>
          </p:nvSpPr>
          <p:spPr>
            <a:xfrm>
              <a:off x="1366200" y="1497960"/>
              <a:ext cx="239076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Function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Rectangle 8"/>
            <p:cNvSpPr/>
            <p:nvPr/>
          </p:nvSpPr>
          <p:spPr>
            <a:xfrm>
              <a:off x="3786120" y="1380240"/>
              <a:ext cx="3773880" cy="549000"/>
            </a:xfrm>
            <a:prstGeom prst="rect">
              <a:avLst/>
            </a:prstGeom>
            <a:solidFill>
              <a:srgbClr val="183458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2" name="TextBox 9"/>
            <p:cNvSpPr/>
            <p:nvPr/>
          </p:nvSpPr>
          <p:spPr>
            <a:xfrm>
              <a:off x="3814920" y="1497960"/>
              <a:ext cx="3716280" cy="28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Calibri"/>
                </a:rPr>
                <a:t>Throughput / Modeling Point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Rectangle 10"/>
            <p:cNvSpPr/>
            <p:nvPr/>
          </p:nvSpPr>
          <p:spPr>
            <a:xfrm>
              <a:off x="501840" y="1929240"/>
              <a:ext cx="83520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4" name="TextBox 11"/>
            <p:cNvSpPr/>
            <p:nvPr/>
          </p:nvSpPr>
          <p:spPr>
            <a:xfrm>
              <a:off x="530640" y="2034360"/>
              <a:ext cx="77760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rgbClr val="191C21"/>
                  </a:solidFill>
                  <a:effectLst/>
                  <a:uFillTx/>
                  <a:latin typeface="Calibri"/>
                </a:rPr>
                <a:t>CONV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Rectangle 12"/>
            <p:cNvSpPr/>
            <p:nvPr/>
          </p:nvSpPr>
          <p:spPr>
            <a:xfrm>
              <a:off x="1337400" y="1929240"/>
              <a:ext cx="244872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6" name="TextBox 13"/>
            <p:cNvSpPr/>
            <p:nvPr/>
          </p:nvSpPr>
          <p:spPr>
            <a:xfrm>
              <a:off x="1366200" y="2034360"/>
              <a:ext cx="239076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Conv / FC / DWConv MAC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ctangle 14"/>
            <p:cNvSpPr/>
            <p:nvPr/>
          </p:nvSpPr>
          <p:spPr>
            <a:xfrm>
              <a:off x="3786120" y="1929240"/>
              <a:ext cx="377388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8" name="TextBox 15"/>
            <p:cNvSpPr/>
            <p:nvPr/>
          </p:nvSpPr>
          <p:spPr>
            <a:xfrm>
              <a:off x="3814920" y="2034360"/>
              <a:ext cx="371628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rgbClr val="191C21"/>
                  </a:solidFill>
                  <a:effectLst/>
                  <a:uFillTx/>
                  <a:latin typeface="Calibri"/>
                </a:rPr>
                <a:t>INT8x8: 16,384 MAC/</a:t>
              </a:r>
              <a:r>
                <a:rPr lang="en-US" sz="1400" b="0" u="none" strike="noStrike" dirty="0" err="1">
                  <a:solidFill>
                    <a:srgbClr val="191C21"/>
                  </a:solidFill>
                  <a:effectLst/>
                  <a:uFillTx/>
                  <a:latin typeface="Calibri"/>
                </a:rPr>
                <a:t>cyc</a:t>
              </a:r>
              <a:r>
                <a:rPr lang="en-US" sz="1400" b="0" u="none" strike="noStrike" dirty="0">
                  <a:solidFill>
                    <a:srgbClr val="191C21"/>
                  </a:solidFill>
                  <a:effectLst/>
                  <a:uFillTx/>
                  <a:latin typeface="Calibri"/>
                </a:rPr>
                <a:t>; 62.3 TOPS @1.9GHz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16"/>
            <p:cNvSpPr/>
            <p:nvPr/>
          </p:nvSpPr>
          <p:spPr>
            <a:xfrm>
              <a:off x="501840" y="2478240"/>
              <a:ext cx="835200" cy="5482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0" name="TextBox 17"/>
            <p:cNvSpPr/>
            <p:nvPr/>
          </p:nvSpPr>
          <p:spPr>
            <a:xfrm>
              <a:off x="530640" y="2583000"/>
              <a:ext cx="77760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Requant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18"/>
            <p:cNvSpPr/>
            <p:nvPr/>
          </p:nvSpPr>
          <p:spPr>
            <a:xfrm>
              <a:off x="1337400" y="2478240"/>
              <a:ext cx="2448720" cy="5482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2" name="TextBox 19"/>
            <p:cNvSpPr/>
            <p:nvPr/>
          </p:nvSpPr>
          <p:spPr>
            <a:xfrm>
              <a:off x="1366200" y="2583000"/>
              <a:ext cx="2390760" cy="46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INT32/FP post-processing, clamp, scale/shift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Rectangle 20"/>
            <p:cNvSpPr/>
            <p:nvPr/>
          </p:nvSpPr>
          <p:spPr>
            <a:xfrm>
              <a:off x="3786120" y="2478240"/>
              <a:ext cx="3773880" cy="5482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4" name="TextBox 21"/>
            <p:cNvSpPr/>
            <p:nvPr/>
          </p:nvSpPr>
          <p:spPr>
            <a:xfrm>
              <a:off x="3814920" y="2583000"/>
              <a:ext cx="371628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16 CONV-chain lanes; Payload W 128 B/cyc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Rectangle 22"/>
            <p:cNvSpPr/>
            <p:nvPr/>
          </p:nvSpPr>
          <p:spPr>
            <a:xfrm>
              <a:off x="501840" y="3027600"/>
              <a:ext cx="835200" cy="54828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6" name="TextBox 23"/>
            <p:cNvSpPr/>
            <p:nvPr/>
          </p:nvSpPr>
          <p:spPr>
            <a:xfrm>
              <a:off x="530640" y="3132000"/>
              <a:ext cx="77760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EWE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Rectangle 24"/>
            <p:cNvSpPr/>
            <p:nvPr/>
          </p:nvSpPr>
          <p:spPr>
            <a:xfrm>
              <a:off x="1337400" y="3027600"/>
              <a:ext cx="2448720" cy="54828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8" name="TextBox 25"/>
            <p:cNvSpPr/>
            <p:nvPr/>
          </p:nvSpPr>
          <p:spPr>
            <a:xfrm>
              <a:off x="1366200" y="3132000"/>
              <a:ext cx="2390760" cy="46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Add/Mul/Sub/activation/math/softmax pieces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Rectangle 26"/>
            <p:cNvSpPr/>
            <p:nvPr/>
          </p:nvSpPr>
          <p:spPr>
            <a:xfrm>
              <a:off x="3786120" y="3027600"/>
              <a:ext cx="3773880" cy="54828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0" name="TextBox 27"/>
            <p:cNvSpPr/>
            <p:nvPr/>
          </p:nvSpPr>
          <p:spPr>
            <a:xfrm>
              <a:off x="3814920" y="3132000"/>
              <a:ext cx="371628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64 elem/cyc; R 256 B/cyc, W 128 B/cyc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Rectangle 28"/>
            <p:cNvSpPr/>
            <p:nvPr/>
          </p:nvSpPr>
          <p:spPr>
            <a:xfrm>
              <a:off x="501840" y="3576600"/>
              <a:ext cx="835200" cy="5479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2" name="TextBox 29"/>
            <p:cNvSpPr/>
            <p:nvPr/>
          </p:nvSpPr>
          <p:spPr>
            <a:xfrm>
              <a:off x="530640" y="3681000"/>
              <a:ext cx="77760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POOL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Rectangle 30"/>
            <p:cNvSpPr/>
            <p:nvPr/>
          </p:nvSpPr>
          <p:spPr>
            <a:xfrm>
              <a:off x="1337400" y="3576600"/>
              <a:ext cx="2448720" cy="5479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4" name="TextBox 31"/>
            <p:cNvSpPr/>
            <p:nvPr/>
          </p:nvSpPr>
          <p:spPr>
            <a:xfrm>
              <a:off x="1366200" y="3681000"/>
              <a:ext cx="239076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Max/Avg/Global pooling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32"/>
            <p:cNvSpPr/>
            <p:nvPr/>
          </p:nvSpPr>
          <p:spPr>
            <a:xfrm>
              <a:off x="3786120" y="3576600"/>
              <a:ext cx="3773880" cy="5479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6" name="TextBox 33"/>
            <p:cNvSpPr/>
            <p:nvPr/>
          </p:nvSpPr>
          <p:spPr>
            <a:xfrm>
              <a:off x="3814920" y="3681000"/>
              <a:ext cx="371628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R 256 B/cyc, W 128 B/cyc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34"/>
            <p:cNvSpPr/>
            <p:nvPr/>
          </p:nvSpPr>
          <p:spPr>
            <a:xfrm>
              <a:off x="501840" y="4124520"/>
              <a:ext cx="83520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8" name="TextBox 35"/>
            <p:cNvSpPr/>
            <p:nvPr/>
          </p:nvSpPr>
          <p:spPr>
            <a:xfrm>
              <a:off x="530640" y="4229280"/>
              <a:ext cx="77760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TNPS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36"/>
            <p:cNvSpPr/>
            <p:nvPr/>
          </p:nvSpPr>
          <p:spPr>
            <a:xfrm>
              <a:off x="1337400" y="4124520"/>
              <a:ext cx="244872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0" name="TextBox 37"/>
            <p:cNvSpPr/>
            <p:nvPr/>
          </p:nvSpPr>
          <p:spPr>
            <a:xfrm>
              <a:off x="1366200" y="4229280"/>
              <a:ext cx="2390760" cy="46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Transpose/Slice/Space-depth/Layout materialize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Rectangle 38"/>
            <p:cNvSpPr/>
            <p:nvPr/>
          </p:nvSpPr>
          <p:spPr>
            <a:xfrm>
              <a:off x="3786120" y="4124520"/>
              <a:ext cx="377388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2" name="TextBox 39"/>
            <p:cNvSpPr/>
            <p:nvPr/>
          </p:nvSpPr>
          <p:spPr>
            <a:xfrm>
              <a:off x="3814920" y="4229280"/>
              <a:ext cx="371628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128 B/cyc read + 128 B/cyc write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Rectangle 40"/>
            <p:cNvSpPr/>
            <p:nvPr/>
          </p:nvSpPr>
          <p:spPr>
            <a:xfrm>
              <a:off x="501840" y="4673880"/>
              <a:ext cx="835200" cy="5479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4" name="TextBox 41"/>
            <p:cNvSpPr/>
            <p:nvPr/>
          </p:nvSpPr>
          <p:spPr>
            <a:xfrm>
              <a:off x="530640" y="4778280"/>
              <a:ext cx="77760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UDMA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Rectangle 42"/>
            <p:cNvSpPr/>
            <p:nvPr/>
          </p:nvSpPr>
          <p:spPr>
            <a:xfrm>
              <a:off x="1337400" y="4673880"/>
              <a:ext cx="2448720" cy="5479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6" name="TextBox 43"/>
            <p:cNvSpPr/>
            <p:nvPr/>
          </p:nvSpPr>
          <p:spPr>
            <a:xfrm>
              <a:off x="1366200" y="4778280"/>
              <a:ext cx="2390760" cy="46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DRAM↔L1 copy, prefetch, store, ACT codec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Rectangle 44"/>
            <p:cNvSpPr/>
            <p:nvPr/>
          </p:nvSpPr>
          <p:spPr>
            <a:xfrm>
              <a:off x="3786120" y="4673880"/>
              <a:ext cx="3773880" cy="5479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8" name="TextBox 45"/>
            <p:cNvSpPr/>
            <p:nvPr/>
          </p:nvSpPr>
          <p:spPr>
            <a:xfrm>
              <a:off x="3814920" y="4778280"/>
              <a:ext cx="371628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rgbClr val="191C21"/>
                  </a:solidFill>
                  <a:effectLst/>
                  <a:uFillTx/>
                  <a:latin typeface="Calibri"/>
                </a:rPr>
                <a:t>LPDDR</a:t>
              </a:r>
              <a:r>
                <a:rPr lang="en-US" altLang="zh-TW" sz="1400" b="0" u="none" strike="noStrike" dirty="0">
                  <a:solidFill>
                    <a:srgbClr val="191C21"/>
                  </a:solidFill>
                  <a:effectLst/>
                  <a:uFillTx/>
                  <a:latin typeface="Calibri"/>
                </a:rPr>
                <a:t>5</a:t>
              </a:r>
              <a:r>
                <a:rPr lang="en-US" sz="1400" b="0" u="none" strike="noStrike" dirty="0">
                  <a:solidFill>
                    <a:srgbClr val="191C21"/>
                  </a:solidFill>
                  <a:effectLst/>
                  <a:uFillTx/>
                  <a:latin typeface="Calibri"/>
                </a:rPr>
                <a:t> model peak ≈85.3 GB/s external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Rectangle 46"/>
            <p:cNvSpPr/>
            <p:nvPr/>
          </p:nvSpPr>
          <p:spPr>
            <a:xfrm>
              <a:off x="501840" y="5222160"/>
              <a:ext cx="83520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0" name="TextBox 47"/>
            <p:cNvSpPr/>
            <p:nvPr/>
          </p:nvSpPr>
          <p:spPr>
            <a:xfrm>
              <a:off x="530640" y="5326920"/>
              <a:ext cx="77760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L1Mesh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Rectangle 48"/>
            <p:cNvSpPr/>
            <p:nvPr/>
          </p:nvSpPr>
          <p:spPr>
            <a:xfrm>
              <a:off x="1337400" y="5222160"/>
              <a:ext cx="244872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2" name="TextBox 49"/>
            <p:cNvSpPr/>
            <p:nvPr/>
          </p:nvSpPr>
          <p:spPr>
            <a:xfrm>
              <a:off x="1366200" y="5326920"/>
              <a:ext cx="2390760" cy="46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3 MB banked scratchpad / routing fabric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50"/>
            <p:cNvSpPr/>
            <p:nvPr/>
          </p:nvSpPr>
          <p:spPr>
            <a:xfrm>
              <a:off x="3786120" y="5222160"/>
              <a:ext cx="3773880" cy="549000"/>
            </a:xfrm>
            <a:prstGeom prst="rect">
              <a:avLst/>
            </a:prstGeom>
            <a:solidFill>
              <a:srgbClr val="F5F7FA"/>
            </a:solidFill>
            <a:ln>
              <a:solidFill>
                <a:srgbClr val="DDE2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36720" tIns="18360" rIns="36720" bIns="18360" anchor="ctr">
              <a:noAutofit/>
            </a:bodyPr>
            <a:lstStyle/>
            <a:p>
              <a:endPara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4" name="TextBox 51"/>
            <p:cNvSpPr/>
            <p:nvPr/>
          </p:nvSpPr>
          <p:spPr>
            <a:xfrm>
              <a:off x="3814920" y="5326920"/>
              <a:ext cx="3716280" cy="25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rgbClr val="191C21"/>
                  </a:solidFill>
                  <a:effectLst/>
                  <a:uFillTx/>
                  <a:latin typeface="Calibri"/>
                </a:rPr>
                <a:t>16 banks x 16B per SRAM cycle backend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5" name="TextBox 53"/>
          <p:cNvSpPr/>
          <p:nvPr/>
        </p:nvSpPr>
        <p:spPr>
          <a:xfrm>
            <a:off x="502920" y="64465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5E6875"/>
                </a:solidFill>
                <a:effectLst/>
                <a:uFillTx/>
                <a:latin typeface="Calibri"/>
              </a:rPr>
              <a:t>MDLA7 SystemC Performance Model | internal technical briefing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54"/>
          <p:cNvSpPr/>
          <p:nvPr/>
        </p:nvSpPr>
        <p:spPr>
          <a:xfrm>
            <a:off x="1106424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7" name="群組 176"/>
          <p:cNvGrpSpPr/>
          <p:nvPr/>
        </p:nvGrpSpPr>
        <p:grpSpPr>
          <a:xfrm>
            <a:off x="7808400" y="540000"/>
            <a:ext cx="4251600" cy="1180440"/>
            <a:chOff x="7808400" y="540000"/>
            <a:chExt cx="4251600" cy="1180440"/>
          </a:xfrm>
        </p:grpSpPr>
        <p:sp>
          <p:nvSpPr>
            <p:cNvPr id="178" name="Rounded Rectangle 3"/>
            <p:cNvSpPr/>
            <p:nvPr/>
          </p:nvSpPr>
          <p:spPr>
            <a:xfrm>
              <a:off x="7808400" y="540000"/>
              <a:ext cx="4251600" cy="1180440"/>
            </a:xfrm>
            <a:prstGeom prst="roundRect">
              <a:avLst>
                <a:gd name="adj" fmla="val 16667"/>
              </a:avLst>
            </a:prstGeom>
            <a:solidFill>
              <a:srgbClr val="F5F7FA"/>
            </a:solidFill>
            <a:ln>
              <a:solidFill>
                <a:srgbClr val="0089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9" name="TextBox 4"/>
            <p:cNvSpPr/>
            <p:nvPr/>
          </p:nvSpPr>
          <p:spPr>
            <a:xfrm>
              <a:off x="7863840" y="666000"/>
              <a:ext cx="4068720" cy="31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897B"/>
                  </a:solidFill>
                  <a:effectLst/>
                  <a:uFillTx/>
                  <a:latin typeface="Calibri"/>
                </a:rPr>
                <a:t>System Parameters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TextBox 5"/>
            <p:cNvSpPr/>
            <p:nvPr/>
          </p:nvSpPr>
          <p:spPr>
            <a:xfrm>
              <a:off x="7890840" y="1033200"/>
              <a:ext cx="4032000" cy="58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720" tIns="18360" rIns="36720" bIns="18360" anchor="t" anchorCtr="1">
              <a:spAutoFit/>
            </a:bodyPr>
            <a:lstStyle/>
            <a:p>
              <a:pPr algn="ctr"/>
              <a:r>
                <a:rPr lang="en-US" sz="1200" b="1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1.9 GHz core | 62.3 TOPS INT8x8 baseline</a:t>
              </a:r>
              <a:endPara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/>
              <a:r>
                <a:rPr lang="en-US" sz="1200" b="1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3 MB L1Mesh SRAM | LPDDR5X-10667, dual x32</a:t>
              </a:r>
              <a:endPara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lang="en-US" sz="1200" b="1" u="none" strike="noStrike">
                  <a:solidFill>
                    <a:srgbClr val="191C21"/>
                  </a:solidFill>
                  <a:effectLst/>
                  <a:uFillTx/>
                  <a:latin typeface="Calibri"/>
                </a:rPr>
                <a:t>64B descriptors via DRAM ring + MMIO doorbell</a:t>
              </a:r>
              <a:endPara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1" name="圖片 180"/>
          <p:cNvPicPr/>
          <p:nvPr/>
        </p:nvPicPr>
        <p:blipFill>
          <a:blip r:embed="rId2"/>
          <a:stretch/>
        </p:blipFill>
        <p:spPr>
          <a:xfrm rot="9600">
            <a:off x="8097480" y="1982520"/>
            <a:ext cx="1995480" cy="175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圖片 181"/>
          <p:cNvPicPr/>
          <p:nvPr/>
        </p:nvPicPr>
        <p:blipFill>
          <a:blip r:embed="rId3"/>
          <a:stretch/>
        </p:blipFill>
        <p:spPr>
          <a:xfrm>
            <a:off x="8203320" y="3960000"/>
            <a:ext cx="2596680" cy="1104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8552" y="322653"/>
            <a:ext cx="1115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3600" b="1" dirty="0">
                <a:solidFill>
                  <a:srgbClr val="183458"/>
                </a:solidFill>
                <a:latin typeface="Calibri"/>
              </a:rPr>
              <a:t>Layer </a:t>
            </a:r>
            <a:r>
              <a:rPr lang="en-US" altLang="zh-TW" sz="3600" b="1" dirty="0">
                <a:solidFill>
                  <a:srgbClr val="183458"/>
                </a:solidFill>
                <a:latin typeface="Calibri"/>
              </a:rPr>
              <a:t>to</a:t>
            </a:r>
            <a:r>
              <a:rPr lang="zh-TW" altLang="en-US" sz="36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" altLang="zh-TW" sz="3600" b="1" dirty="0" err="1">
                <a:solidFill>
                  <a:srgbClr val="183458"/>
                </a:solidFill>
                <a:latin typeface="Calibri"/>
              </a:rPr>
              <a:t>Microblock</a:t>
            </a:r>
            <a:r>
              <a:rPr lang="en" altLang="zh-TW" sz="3600" b="1" dirty="0">
                <a:solidFill>
                  <a:srgbClr val="183458"/>
                </a:solidFill>
                <a:latin typeface="Calibri"/>
              </a:rPr>
              <a:t> architecture and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3423" y="212793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Compiler / graph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3423" y="311549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Compiler / tiler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4092157"/>
            <a:ext cx="64061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F172A"/>
                </a:solidFill>
                <a:latin typeface="Aptos"/>
              </a:rPr>
              <a:t>Compiler + Command Engine ABI</a:t>
            </a:r>
            <a:r>
              <a:rPr lang="zh-TW" altLang="en-US" sz="1600" b="1" dirty="0">
                <a:solidFill>
                  <a:srgbClr val="0F172A"/>
                </a:solidFill>
                <a:latin typeface="Aptos"/>
              </a:rPr>
              <a:t> </a:t>
            </a:r>
            <a:r>
              <a:rPr lang="en-US" altLang="zh-TW" sz="1600" b="1" dirty="0">
                <a:solidFill>
                  <a:srgbClr val="0F172A"/>
                </a:solidFill>
                <a:latin typeface="Aptos"/>
              </a:rPr>
              <a:t>(Application Binary Interface)</a:t>
            </a:r>
            <a:endParaRPr sz="16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03423" y="509059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Command Engine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7538A15-2ED6-6095-3240-2488825343D5}"/>
              </a:ext>
            </a:extLst>
          </p:cNvPr>
          <p:cNvGrpSpPr/>
          <p:nvPr/>
        </p:nvGrpSpPr>
        <p:grpSpPr>
          <a:xfrm>
            <a:off x="1567543" y="1530135"/>
            <a:ext cx="4082144" cy="4517136"/>
            <a:chOff x="1030779" y="1506384"/>
            <a:chExt cx="3063240" cy="4517136"/>
          </a:xfrm>
        </p:grpSpPr>
        <p:sp>
          <p:nvSpPr>
            <p:cNvPr id="3" name="Rounded Rectangle 2"/>
            <p:cNvSpPr/>
            <p:nvPr/>
          </p:nvSpPr>
          <p:spPr>
            <a:xfrm>
              <a:off x="1030779" y="1506384"/>
              <a:ext cx="3063240" cy="566928"/>
            </a:xfrm>
            <a:prstGeom prst="roundRect">
              <a:avLst/>
            </a:prstGeom>
            <a:solidFill>
              <a:srgbClr val="E0F2FE"/>
            </a:solidFill>
            <a:ln w="16510">
              <a:solidFill>
                <a:srgbClr val="38BD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0F172A"/>
                  </a:solidFill>
                  <a:latin typeface="Aptos"/>
                </a:rPr>
                <a:t>Layer graph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365803" y="2091600"/>
              <a:ext cx="4114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1">
                  <a:solidFill>
                    <a:srgbClr val="475569"/>
                  </a:solidFill>
                  <a:latin typeface="Aptos"/>
                </a:rPr>
                <a:t>↓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30779" y="2493936"/>
              <a:ext cx="3063240" cy="566928"/>
            </a:xfrm>
            <a:prstGeom prst="roundRect">
              <a:avLst/>
            </a:prstGeom>
            <a:solidFill>
              <a:srgbClr val="DBEAFE"/>
            </a:solidFill>
            <a:ln w="16510">
              <a:solidFill>
                <a:srgbClr val="60A5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0F172A"/>
                  </a:solidFill>
                  <a:latin typeface="Aptos"/>
                </a:rPr>
                <a:t>Layer fuse / graph-level fuse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65803" y="3079152"/>
              <a:ext cx="4114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1" dirty="0">
                  <a:solidFill>
                    <a:srgbClr val="475569"/>
                  </a:solidFill>
                  <a:latin typeface="Aptos"/>
                </a:rPr>
                <a:t>↓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030779" y="3481488"/>
              <a:ext cx="3063240" cy="566928"/>
            </a:xfrm>
            <a:prstGeom prst="roundRect">
              <a:avLst/>
            </a:prstGeom>
            <a:solidFill>
              <a:srgbClr val="DCFCE7"/>
            </a:solidFill>
            <a:ln w="16510">
              <a:solidFill>
                <a:srgbClr val="4ADE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0F172A"/>
                  </a:solidFill>
                  <a:latin typeface="Aptos"/>
                </a:rPr>
                <a:t>Tile split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65803" y="4066704"/>
              <a:ext cx="4114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1" dirty="0">
                  <a:solidFill>
                    <a:srgbClr val="475569"/>
                  </a:solidFill>
                  <a:latin typeface="Aptos"/>
                </a:rPr>
                <a:t>↓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30779" y="4469040"/>
              <a:ext cx="3063240" cy="566928"/>
            </a:xfrm>
            <a:prstGeom prst="roundRect">
              <a:avLst/>
            </a:prstGeom>
            <a:solidFill>
              <a:srgbClr val="FEF3C7"/>
            </a:solidFill>
            <a:ln w="16510">
              <a:solidFill>
                <a:srgbClr val="F59E0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 dirty="0">
                  <a:solidFill>
                    <a:srgbClr val="0F172A"/>
                  </a:solidFill>
                  <a:latin typeface="Aptos"/>
                </a:rPr>
                <a:t>Tile-level fuse / L1</a:t>
              </a:r>
              <a:r>
                <a:rPr lang="en-US" sz="1500" b="1" dirty="0">
                  <a:solidFill>
                    <a:srgbClr val="0F172A"/>
                  </a:solidFill>
                  <a:latin typeface="Aptos"/>
                </a:rPr>
                <a:t> SRAM</a:t>
              </a:r>
              <a:r>
                <a:rPr lang="zh-TW" altLang="en-US" sz="1500" b="1" dirty="0">
                  <a:solidFill>
                    <a:srgbClr val="0F172A"/>
                  </a:solidFill>
                  <a:latin typeface="Aptos"/>
                </a:rPr>
                <a:t> </a:t>
              </a:r>
              <a:r>
                <a:rPr sz="1500" b="1" dirty="0">
                  <a:solidFill>
                    <a:srgbClr val="0F172A"/>
                  </a:solidFill>
                  <a:latin typeface="Aptos"/>
                </a:rPr>
                <a:t> handoff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65803" y="5054256"/>
              <a:ext cx="4114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1">
                  <a:solidFill>
                    <a:srgbClr val="475569"/>
                  </a:solidFill>
                  <a:latin typeface="Aptos"/>
                </a:rPr>
                <a:t>↓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30779" y="5456592"/>
              <a:ext cx="3063240" cy="566928"/>
            </a:xfrm>
            <a:prstGeom prst="roundRect">
              <a:avLst/>
            </a:prstGeom>
            <a:solidFill>
              <a:srgbClr val="FFE4E6"/>
            </a:solidFill>
            <a:ln w="16510">
              <a:solidFill>
                <a:srgbClr val="FB71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0F172A"/>
                  </a:solidFill>
                  <a:latin typeface="Aptos"/>
                </a:rPr>
                <a:t>Microblock pipeline / wavefront</a:t>
              </a:r>
            </a:p>
          </p:txBody>
        </p:sp>
      </p:grpSp>
      <p:sp>
        <p:nvSpPr>
          <p:cNvPr id="17" name="Rectangle 3">
            <a:extLst>
              <a:ext uri="{FF2B5EF4-FFF2-40B4-BE49-F238E27FC236}">
                <a16:creationId xmlns:a16="http://schemas.microsoft.com/office/drawing/2014/main" id="{9375AD7D-54E4-F434-6CAB-719DB2016631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724DB50-C7F6-FF48-E53C-504A334A0AC4}"/>
              </a:ext>
            </a:extLst>
          </p:cNvPr>
          <p:cNvCxnSpPr/>
          <p:nvPr/>
        </p:nvCxnSpPr>
        <p:spPr>
          <a:xfrm>
            <a:off x="1427356" y="4270917"/>
            <a:ext cx="7036420" cy="28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5817137-F190-20FA-0F18-553D1CA30713}"/>
              </a:ext>
            </a:extLst>
          </p:cNvPr>
          <p:cNvCxnSpPr/>
          <p:nvPr/>
        </p:nvCxnSpPr>
        <p:spPr>
          <a:xfrm>
            <a:off x="8920976" y="5196468"/>
            <a:ext cx="602165" cy="133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03E71BE-144F-2EA7-DE47-62F29B63F3F8}"/>
              </a:ext>
            </a:extLst>
          </p:cNvPr>
          <p:cNvCxnSpPr>
            <a:cxnSpLocks/>
          </p:cNvCxnSpPr>
          <p:nvPr/>
        </p:nvCxnSpPr>
        <p:spPr>
          <a:xfrm flipV="1">
            <a:off x="1363455" y="4197324"/>
            <a:ext cx="4732545" cy="7855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4660-EC31-24B3-D6D3-66F0094B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D1AFD-E08F-4494-2D8C-2715D4BFC31C}"/>
              </a:ext>
            </a:extLst>
          </p:cNvPr>
          <p:cNvSpPr txBox="1"/>
          <p:nvPr/>
        </p:nvSpPr>
        <p:spPr>
          <a:xfrm>
            <a:off x="728552" y="322653"/>
            <a:ext cx="1115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3600" b="1" dirty="0">
                <a:solidFill>
                  <a:srgbClr val="183458"/>
                </a:solidFill>
                <a:latin typeface="Calibri"/>
              </a:rPr>
              <a:t>Microblock</a:t>
            </a:r>
            <a:r>
              <a:rPr lang="zh-TW" altLang="en-US" sz="36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-US" altLang="zh-TW" sz="3600" b="1" dirty="0">
                <a:solidFill>
                  <a:srgbClr val="183458"/>
                </a:solidFill>
                <a:latin typeface="Calibri"/>
              </a:rPr>
              <a:t>Pipeline</a:t>
            </a:r>
            <a:r>
              <a:rPr lang="zh-TW" altLang="en-US" sz="36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-US" altLang="zh-TW" sz="3600" b="1" dirty="0">
                <a:solidFill>
                  <a:srgbClr val="183458"/>
                </a:solidFill>
                <a:latin typeface="Calibri"/>
              </a:rPr>
              <a:t>Path</a:t>
            </a:r>
            <a:r>
              <a:rPr lang="zh-TW" altLang="en-US" sz="36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-US" altLang="zh-TW" sz="3600" b="1" dirty="0">
                <a:solidFill>
                  <a:srgbClr val="183458"/>
                </a:solidFill>
                <a:latin typeface="Calibri"/>
              </a:rPr>
              <a:t>for regression</a:t>
            </a:r>
            <a:endParaRPr lang="en" altLang="zh-TW" sz="3600" b="1" dirty="0">
              <a:solidFill>
                <a:srgbClr val="183458"/>
              </a:solidFill>
              <a:latin typeface="Calibri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3532EDE1-81A8-71EF-3E87-426BC70F4A0B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6532C96-42A0-3A4B-75C6-90A15FA7E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51883"/>
              </p:ext>
            </p:extLst>
          </p:nvPr>
        </p:nvGraphicFramePr>
        <p:xfrm>
          <a:off x="1141256" y="2612260"/>
          <a:ext cx="8951960" cy="3624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48730">
                  <a:extLst>
                    <a:ext uri="{9D8B030D-6E8A-4147-A177-3AD203B41FA5}">
                      <a16:colId xmlns:a16="http://schemas.microsoft.com/office/drawing/2014/main" val="2800242261"/>
                    </a:ext>
                  </a:extLst>
                </a:gridCol>
                <a:gridCol w="5023705">
                  <a:extLst>
                    <a:ext uri="{9D8B030D-6E8A-4147-A177-3AD203B41FA5}">
                      <a16:colId xmlns:a16="http://schemas.microsoft.com/office/drawing/2014/main" val="3831924090"/>
                    </a:ext>
                  </a:extLst>
                </a:gridCol>
                <a:gridCol w="1879525">
                  <a:extLst>
                    <a:ext uri="{9D8B030D-6E8A-4147-A177-3AD203B41FA5}">
                      <a16:colId xmlns:a16="http://schemas.microsoft.com/office/drawing/2014/main" val="4116956412"/>
                    </a:ext>
                  </a:extLst>
                </a:gridCol>
              </a:tblGrid>
              <a:tr h="51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</a:rPr>
                        <a:t>Name</a:t>
                      </a:r>
                      <a:endParaRPr lang="e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</a:rPr>
                        <a:t>Scope or shape</a:t>
                      </a:r>
                      <a:endParaRPr lang="e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chemeClr val="bg1"/>
                          </a:solidFill>
                          <a:effectLst/>
                        </a:rPr>
                        <a:t>ETHZ_v6 Slicing</a:t>
                      </a:r>
                      <a:br>
                        <a:rPr lang="en" sz="16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" sz="1600" dirty="0">
                          <a:solidFill>
                            <a:schemeClr val="bg1"/>
                          </a:solidFill>
                          <a:effectLst/>
                        </a:rPr>
                        <a:t>Patterns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69001878"/>
                  </a:ext>
                </a:extLst>
              </a:tr>
              <a:tr h="5100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Producer compute</a:t>
                      </a:r>
                      <a:endParaRPr lang="en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CONV/DW/FC/EWE/POOL/TNPS -&gt; L1 tile</a:t>
                      </a:r>
                      <a:endParaRPr lang="en" sz="160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600" b="1" dirty="0">
                          <a:effectLst/>
                          <a:latin typeface="+mn-lt"/>
                        </a:rPr>
                        <a:t>44</a:t>
                      </a:r>
                      <a:endParaRPr lang="zh-TW" altLang="en-US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745952828"/>
                  </a:ext>
                </a:extLst>
              </a:tr>
              <a:tr h="5100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Consumer tail</a:t>
                      </a:r>
                      <a:endParaRPr lang="en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producer -&gt; EWE/POOL/TNPS/store</a:t>
                      </a:r>
                      <a:endParaRPr lang="en" sz="1600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TW" sz="1600" b="1" dirty="0">
                          <a:effectLst/>
                          <a:latin typeface="+mn-lt"/>
                        </a:rPr>
                        <a:t>52</a:t>
                      </a:r>
                      <a:endParaRPr lang="zh-TW" altLang="en-US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059446"/>
                  </a:ext>
                </a:extLst>
              </a:tr>
              <a:tr h="5100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Layout bridge</a:t>
                      </a:r>
                      <a:endParaRPr lang="en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sslice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concat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/d2space/transpose -&gt; compute</a:t>
                      </a:r>
                      <a:endParaRPr lang="en" sz="1600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effectLst/>
                          <a:latin typeface="+mn-lt"/>
                        </a:rPr>
                        <a:t>286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465465223"/>
                  </a:ext>
                </a:extLst>
              </a:tr>
              <a:tr h="5100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Fanout/live-range</a:t>
                      </a:r>
                      <a:endParaRPr lang="en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one producer -&gt; multiple consumers</a:t>
                      </a:r>
                      <a:endParaRPr lang="en" sz="1600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548377053"/>
                  </a:ext>
                </a:extLst>
              </a:tr>
              <a:tr h="5100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UDMA as engine</a:t>
                      </a:r>
                      <a:endParaRPr lang="en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udma_r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udma_w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preload/store participates in pipeline</a:t>
                      </a:r>
                      <a:endParaRPr lang="en" sz="1600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587994173"/>
                  </a:ext>
                </a:extLst>
              </a:tr>
              <a:tr h="5100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Streaming preload</a:t>
                      </a:r>
                      <a:endParaRPr lang="en" sz="1600" b="1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udma_r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head/tail -&gt; compute overlap</a:t>
                      </a:r>
                      <a:endParaRPr lang="en" sz="1600" dirty="0">
                        <a:effectLst/>
                        <a:latin typeface="+mn-lt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" sz="1600" b="1" dirty="0">
                          <a:effectLst/>
                          <a:latin typeface="+mn-lt"/>
                        </a:rPr>
                        <a:t>134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970947239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C5CC15CD-ED18-E8A7-C3CD-5EECB39FB584}"/>
              </a:ext>
            </a:extLst>
          </p:cNvPr>
          <p:cNvSpPr txBox="1"/>
          <p:nvPr/>
        </p:nvSpPr>
        <p:spPr>
          <a:xfrm>
            <a:off x="1076510" y="1477787"/>
            <a:ext cx="64005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Scan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ETHZ_v6 Patterns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to generate </a:t>
            </a:r>
            <a:r>
              <a:rPr kumimoji="1" lang="en-US" altLang="zh-TW" sz="2000" b="1" dirty="0" err="1">
                <a:solidFill>
                  <a:srgbClr val="0070C0"/>
                </a:solidFill>
              </a:rPr>
              <a:t>Microblock</a:t>
            </a:r>
            <a:r>
              <a:rPr kumimoji="1" lang="zh-TW" altLang="en-US" sz="2000" b="1" dirty="0">
                <a:solidFill>
                  <a:srgbClr val="0070C0"/>
                </a:solidFill>
              </a:rPr>
              <a:t> </a:t>
            </a:r>
            <a:r>
              <a:rPr kumimoji="1" lang="en-US" altLang="zh-TW" sz="2000" b="1" dirty="0">
                <a:solidFill>
                  <a:srgbClr val="0070C0"/>
                </a:solidFill>
              </a:rPr>
              <a:t>Path</a:t>
            </a:r>
            <a:r>
              <a:rPr kumimoji="1" lang="zh-TW" altLang="en-US" sz="2000" b="1" dirty="0">
                <a:solidFill>
                  <a:srgbClr val="0070C0"/>
                </a:solidFill>
              </a:rPr>
              <a:t> </a:t>
            </a:r>
            <a:r>
              <a:rPr kumimoji="1" lang="en-US" altLang="zh-TW" sz="2000" b="1" dirty="0">
                <a:solidFill>
                  <a:srgbClr val="0070C0"/>
                </a:solidFill>
              </a:rPr>
              <a:t>Slice</a:t>
            </a:r>
            <a:r>
              <a:rPr kumimoji="1" lang="zh-TW" altLang="en-US" sz="2000" b="1" dirty="0">
                <a:solidFill>
                  <a:srgbClr val="0070C0"/>
                </a:solidFill>
              </a:rPr>
              <a:t> </a:t>
            </a:r>
            <a:r>
              <a:rPr kumimoji="1" lang="en-US" altLang="zh-TW" sz="2000" b="1" dirty="0">
                <a:solidFill>
                  <a:srgbClr val="0070C0"/>
                </a:solidFill>
              </a:rPr>
              <a:t>Patterns </a:t>
            </a:r>
            <a:r>
              <a:rPr kumimoji="1" lang="en-US" altLang="zh-TW" sz="2000" dirty="0"/>
              <a:t>by AI for function coverage and easy debugging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1913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027358F-570A-7AE0-BDCC-818A5C417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948258"/>
              </p:ext>
            </p:extLst>
          </p:nvPr>
        </p:nvGraphicFramePr>
        <p:xfrm>
          <a:off x="294640" y="2321560"/>
          <a:ext cx="10769598" cy="259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0384">
                  <a:extLst>
                    <a:ext uri="{9D8B030D-6E8A-4147-A177-3AD203B41FA5}">
                      <a16:colId xmlns:a16="http://schemas.microsoft.com/office/drawing/2014/main" val="311634555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90668469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222182548"/>
                    </a:ext>
                  </a:extLst>
                </a:gridCol>
                <a:gridCol w="3858768">
                  <a:extLst>
                    <a:ext uri="{9D8B030D-6E8A-4147-A177-3AD203B41FA5}">
                      <a16:colId xmlns:a16="http://schemas.microsoft.com/office/drawing/2014/main" val="1826849452"/>
                    </a:ext>
                  </a:extLst>
                </a:gridCol>
                <a:gridCol w="1197862">
                  <a:extLst>
                    <a:ext uri="{9D8B030D-6E8A-4147-A177-3AD203B41FA5}">
                      <a16:colId xmlns:a16="http://schemas.microsoft.com/office/drawing/2014/main" val="3919967096"/>
                    </a:ext>
                  </a:extLst>
                </a:gridCol>
              </a:tblGrid>
              <a:tr h="64947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" sz="1800" b="1" dirty="0">
                          <a:solidFill>
                            <a:srgbClr val="BFBFBF"/>
                          </a:solidFill>
                          <a:effectLst/>
                        </a:rPr>
                        <a:t>version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1800" b="1" dirty="0">
                          <a:solidFill>
                            <a:srgbClr val="BFBFBF"/>
                          </a:solidFill>
                          <a:effectLst/>
                        </a:rPr>
                        <a:t>Meaning</a:t>
                      </a:r>
                      <a:endParaRPr lang="zh-TW" altLang="en-US" sz="1800" b="1" dirty="0">
                        <a:solidFill>
                          <a:srgbClr val="BFBFBF"/>
                        </a:solidFill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" sz="1800" b="1" dirty="0">
                          <a:solidFill>
                            <a:srgbClr val="BFBFBF"/>
                          </a:solidFill>
                          <a:effectLst/>
                        </a:rPr>
                        <a:t>source path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" sz="1800" b="1" dirty="0">
                          <a:solidFill>
                            <a:srgbClr val="BFBFBF"/>
                          </a:solidFill>
                          <a:effectLst/>
                        </a:rPr>
                        <a:t>Batch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" sz="1800" b="1" dirty="0">
                          <a:solidFill>
                            <a:srgbClr val="BFBFBF"/>
                          </a:solidFill>
                          <a:effectLst/>
                        </a:rPr>
                        <a:t>Speed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770522712"/>
                  </a:ext>
                </a:extLst>
              </a:tr>
              <a:tr h="6494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600" b="1" dirty="0">
                          <a:effectLst/>
                          <a:latin typeface="Menlo" panose="020B0609030804020204" pitchFamily="49" charset="0"/>
                        </a:rPr>
                        <a:t>fast</a:t>
                      </a:r>
                      <a:endParaRPr lang="en" sz="1600" b="1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400" dirty="0">
                          <a:effectLst/>
                        </a:rPr>
                        <a:t>analytical / functional SystemC 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400">
                          <a:effectLst/>
                          <a:latin typeface="Menlo" panose="020B0609030804020204" pitchFamily="49" charset="0"/>
                        </a:rPr>
                        <a:t>systemc/</a:t>
                      </a:r>
                      <a:endParaRPr lang="en" sz="14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altLang="zh-TW" sz="1400" dirty="0" err="1">
                          <a:effectLst/>
                          <a:latin typeface="Menlo" panose="020B0609030804020204" pitchFamily="49" charset="0"/>
                        </a:rPr>
                        <a:t>run_systemc.py</a:t>
                      </a:r>
                      <a:endParaRPr lang="en" altLang="zh-TW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" altLang="zh-TW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741950631"/>
                  </a:ext>
                </a:extLst>
              </a:tr>
              <a:tr h="6494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600" b="1" dirty="0">
                          <a:effectLst/>
                          <a:latin typeface="Menlo" panose="020B0609030804020204" pitchFamily="49" charset="0"/>
                        </a:rPr>
                        <a:t>cx</a:t>
                      </a:r>
                      <a:endParaRPr lang="en" sz="1600" b="1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400" dirty="0">
                          <a:effectLst/>
                        </a:rPr>
                        <a:t>SystemC synth timing / </a:t>
                      </a:r>
                      <a:r>
                        <a:rPr lang="en" sz="1400" dirty="0" err="1">
                          <a:effectLst/>
                        </a:rPr>
                        <a:t>microblock</a:t>
                      </a:r>
                      <a:r>
                        <a:rPr lang="en" sz="1400" dirty="0">
                          <a:effectLst/>
                        </a:rPr>
                        <a:t> model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400" dirty="0" err="1">
                          <a:effectLst/>
                          <a:latin typeface="Menlo" panose="020B0609030804020204" pitchFamily="49" charset="0"/>
                        </a:rPr>
                        <a:t>systemc</a:t>
                      </a:r>
                      <a:r>
                        <a:rPr lang="en" sz="1400" dirty="0">
                          <a:effectLst/>
                          <a:latin typeface="Menlo" panose="020B0609030804020204" pitchFamily="49" charset="0"/>
                        </a:rPr>
                        <a:t>/</a:t>
                      </a:r>
                      <a:endParaRPr lang="en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altLang="zh-TW" sz="1400" dirty="0" err="1">
                          <a:effectLst/>
                          <a:latin typeface="Menlo" panose="020B0609030804020204" pitchFamily="49" charset="0"/>
                        </a:rPr>
                        <a:t>run_systemc.py</a:t>
                      </a:r>
                      <a:r>
                        <a:rPr lang="en" altLang="zh-TW" sz="1400" dirty="0">
                          <a:effectLst/>
                          <a:latin typeface="Menlo" panose="020B0609030804020204" pitchFamily="49" charset="0"/>
                        </a:rPr>
                        <a:t> --L1=cx --engine=cx</a:t>
                      </a:r>
                      <a:endParaRPr lang="en" altLang="zh-TW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" altLang="zh-TW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764274320"/>
                  </a:ext>
                </a:extLst>
              </a:tr>
              <a:tr h="6494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600" b="1" dirty="0" err="1">
                          <a:effectLst/>
                          <a:latin typeface="Menlo" panose="020B0609030804020204" pitchFamily="49" charset="0"/>
                        </a:rPr>
                        <a:t>verilog</a:t>
                      </a:r>
                      <a:endParaRPr lang="en" sz="1600" b="1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400" dirty="0">
                          <a:effectLst/>
                        </a:rPr>
                        <a:t>RTL Verilog </a:t>
                      </a:r>
                      <a:r>
                        <a:rPr lang="en" sz="1400" dirty="0" err="1">
                          <a:effectLst/>
                        </a:rPr>
                        <a:t>path，control</a:t>
                      </a:r>
                      <a:r>
                        <a:rPr lang="en" sz="1400" dirty="0">
                          <a:effectLst/>
                        </a:rPr>
                        <a:t> + </a:t>
                      </a:r>
                      <a:r>
                        <a:rPr lang="en" sz="1400" dirty="0" err="1">
                          <a:effectLst/>
                        </a:rPr>
                        <a:t>datapath</a:t>
                      </a:r>
                      <a:endParaRPr lang="zh-TW" altLang="en-US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400" dirty="0" err="1">
                          <a:effectLst/>
                          <a:latin typeface="Menlo" panose="020B0609030804020204" pitchFamily="49" charset="0"/>
                        </a:rPr>
                        <a:t>rtl</a:t>
                      </a:r>
                      <a:r>
                        <a:rPr lang="en" sz="1400" dirty="0">
                          <a:effectLst/>
                          <a:latin typeface="Menlo" panose="020B0609030804020204" pitchFamily="49" charset="0"/>
                        </a:rPr>
                        <a:t>/</a:t>
                      </a:r>
                      <a:r>
                        <a:rPr lang="en" sz="1400" dirty="0" err="1">
                          <a:effectLst/>
                          <a:latin typeface="Menlo" panose="020B0609030804020204" pitchFamily="49" charset="0"/>
                        </a:rPr>
                        <a:t>verilog</a:t>
                      </a:r>
                      <a:r>
                        <a:rPr lang="en" sz="1400" dirty="0">
                          <a:effectLst/>
                          <a:latin typeface="Menlo" panose="020B0609030804020204" pitchFamily="49" charset="0"/>
                        </a:rPr>
                        <a:t>/</a:t>
                      </a:r>
                      <a:endParaRPr lang="en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" sz="1400" dirty="0" err="1">
                          <a:effectLst/>
                          <a:latin typeface="Menlo" panose="020B0609030804020204" pitchFamily="49" charset="0"/>
                        </a:rPr>
                        <a:t>run_verilog.py</a:t>
                      </a:r>
                      <a:r>
                        <a:rPr lang="zh-TW" altLang="en-US" sz="1400" dirty="0">
                          <a:effectLst/>
                          <a:latin typeface="Menlo" panose="020B0609030804020204" pitchFamily="49" charset="0"/>
                        </a:rPr>
                        <a:t> </a:t>
                      </a:r>
                      <a:r>
                        <a:rPr lang="en" altLang="zh-TW" sz="1400" b="1" dirty="0">
                          <a:solidFill>
                            <a:schemeClr val="accent1"/>
                          </a:solidFill>
                          <a:effectLst/>
                          <a:latin typeface="Menlo" panose="020B0609030804020204" pitchFamily="49" charset="0"/>
                        </a:rPr>
                        <a:t>–-option dpi</a:t>
                      </a:r>
                      <a:endParaRPr lang="en" sz="1400" dirty="0">
                        <a:effectLst/>
                        <a:latin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400" dirty="0" err="1">
                          <a:effectLst/>
                          <a:latin typeface="Menlo" panose="020B0609030804020204" pitchFamily="49" charset="0"/>
                        </a:rPr>
                        <a:t>run_verilog.py</a:t>
                      </a:r>
                      <a:endParaRPr lang="en" altLang="zh-TW" sz="1400" b="1" dirty="0">
                        <a:solidFill>
                          <a:schemeClr val="accent1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407622405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C77F163-53AA-8568-75F4-F1AF86A824DE}"/>
              </a:ext>
            </a:extLst>
          </p:cNvPr>
          <p:cNvSpPr/>
          <p:nvPr/>
        </p:nvSpPr>
        <p:spPr>
          <a:xfrm>
            <a:off x="502920" y="255960"/>
            <a:ext cx="786348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Modeling Level and Version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4CF1BF0-FB02-CE9E-E257-E3835F16F7B3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4465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/>
          <p:nvPr/>
        </p:nvSpPr>
        <p:spPr>
          <a:xfrm>
            <a:off x="502920" y="255960"/>
            <a:ext cx="7863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83458"/>
                </a:solidFill>
                <a:effectLst/>
                <a:uFillTx/>
                <a:latin typeface="Calibri"/>
              </a:rPr>
              <a:t>Profile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3"/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3"/>
          <p:cNvSpPr/>
          <p:nvPr/>
        </p:nvSpPr>
        <p:spPr>
          <a:xfrm>
            <a:off x="1106424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圖片 4"/>
          <p:cNvPicPr/>
          <p:nvPr/>
        </p:nvPicPr>
        <p:blipFill>
          <a:blip r:embed="rId2"/>
          <a:stretch/>
        </p:blipFill>
        <p:spPr>
          <a:xfrm>
            <a:off x="2298627" y="76320"/>
            <a:ext cx="9739440" cy="6705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"/>
          <p:cNvSpPr/>
          <p:nvPr/>
        </p:nvSpPr>
        <p:spPr>
          <a:xfrm>
            <a:off x="502920" y="255960"/>
            <a:ext cx="7863480" cy="59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Performance Tuning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957137" y="1375830"/>
            <a:ext cx="8986320" cy="47460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Tunning</a:t>
            </a:r>
            <a:r>
              <a:rPr lang="zh-TW" alt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 </a:t>
            </a:r>
            <a:r>
              <a:rPr lang="en-US" altLang="zh-TW" sz="2800" b="1" dirty="0">
                <a:solidFill>
                  <a:srgbClr val="183458"/>
                </a:solidFill>
                <a:latin typeface="Calibri"/>
              </a:rPr>
              <a:t>Approach</a:t>
            </a:r>
          </a:p>
          <a:p>
            <a:pPr marL="1028700" lvl="1" indent="-571500" defTabSz="457200"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Baseline profiling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  <a:p>
            <a:pPr marL="1028700" lvl="1" indent="-571500" defTabSz="457200"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Tiling and micro-blocks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  <a:p>
            <a:pPr marL="1028700" lvl="1" indent="-571500" defTabSz="457200"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Layer Fuse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  <a:p>
            <a:pPr marL="1028700" lvl="1" indent="-571500" defTabSz="457200"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Engine Overlap Scheduling </a:t>
            </a:r>
          </a:p>
          <a:p>
            <a:pPr marL="1028700" lvl="1" indent="-571500" defTabSz="457200"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Engine Bubbles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28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8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Prompt Examples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/goal E2E function 100%, turning performance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不能掉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1600" b="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Calibri"/>
              </a:rPr>
              <a:t>算法</a:t>
            </a:r>
            <a:r>
              <a:rPr lang="zh-TW" altLang="en-US" sz="1600" b="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要是</a:t>
            </a:r>
            <a:r>
              <a:rPr lang="zh-TW" alt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altLang="zh-TW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general rule</a:t>
            </a:r>
            <a:endParaRPr lang="en-US" sz="1600" b="1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Check</a:t>
            </a:r>
            <a:r>
              <a:rPr lang="zh-TW" alt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ETHZ_V6 </a:t>
            </a:r>
            <a:r>
              <a:rPr lang="zh-TW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不是最後一層有</a:t>
            </a:r>
            <a:r>
              <a:rPr lang="zh-TW" alt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大量的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DRAM</a:t>
            </a:r>
            <a:r>
              <a:rPr lang="zh-TW" alt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Write  </a:t>
            </a:r>
            <a:r>
              <a:rPr lang="en-US" sz="1600" b="1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列出來</a:t>
            </a:r>
            <a:r>
              <a:rPr lang="zh-TW" altLang="en-US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然後</a:t>
            </a:r>
            <a:r>
              <a:rPr lang="zh-TW" sz="16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最佳化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"/>
            </a:pPr>
            <a:r>
              <a:rPr lang="en-US" altLang="zh-TW" sz="1600" b="1" dirty="0">
                <a:solidFill>
                  <a:schemeClr val="dk1"/>
                </a:solidFill>
              </a:rPr>
              <a:t>Check</a:t>
            </a:r>
            <a:r>
              <a:rPr lang="zh-TW" altLang="en-US" sz="1600" b="1" dirty="0">
                <a:solidFill>
                  <a:schemeClr val="dk1"/>
                </a:solidFill>
              </a:rPr>
              <a:t> </a:t>
            </a:r>
            <a:r>
              <a:rPr lang="en-US" altLang="zh-TW" sz="1600" b="1" dirty="0">
                <a:solidFill>
                  <a:schemeClr val="dk1"/>
                </a:solidFill>
              </a:rPr>
              <a:t>ETHZ_V6 </a:t>
            </a:r>
            <a:r>
              <a:rPr lang="zh-TW" altLang="en-US" sz="1600" b="1" dirty="0">
                <a:solidFill>
                  <a:schemeClr val="dk1"/>
                </a:solidFill>
              </a:rPr>
              <a:t> </a:t>
            </a:r>
            <a:r>
              <a:rPr lang="en-US" altLang="zh-TW" sz="1600" b="1" dirty="0">
                <a:solidFill>
                  <a:schemeClr val="dk1"/>
                </a:solidFill>
              </a:rPr>
              <a:t>Layer</a:t>
            </a:r>
            <a:r>
              <a:rPr lang="zh-TW" altLang="en-US" sz="1600" b="1" dirty="0">
                <a:solidFill>
                  <a:schemeClr val="dk1"/>
                </a:solidFill>
              </a:rPr>
              <a:t> 可以</a:t>
            </a:r>
            <a:r>
              <a:rPr lang="en-US" altLang="zh-TW" sz="1600" b="1" dirty="0">
                <a:solidFill>
                  <a:schemeClr val="dk1"/>
                </a:solidFill>
              </a:rPr>
              <a:t>Fuse</a:t>
            </a:r>
            <a:r>
              <a:rPr lang="zh-TW" altLang="en-US" sz="1600" b="1" dirty="0">
                <a:solidFill>
                  <a:schemeClr val="dk1"/>
                </a:solidFill>
              </a:rPr>
              <a:t> 成 </a:t>
            </a:r>
            <a:r>
              <a:rPr lang="en-US" altLang="zh-TW" sz="1600" b="1" dirty="0">
                <a:solidFill>
                  <a:schemeClr val="dk1"/>
                </a:solidFill>
              </a:rPr>
              <a:t>Flow</a:t>
            </a:r>
            <a:r>
              <a:rPr lang="zh-TW" altLang="en-US" sz="1600" b="1" dirty="0">
                <a:solidFill>
                  <a:schemeClr val="dk1"/>
                </a:solidFill>
              </a:rPr>
              <a:t> 沒 </a:t>
            </a:r>
            <a:r>
              <a:rPr lang="en-US" altLang="zh-TW" sz="1600" b="1" dirty="0">
                <a:solidFill>
                  <a:schemeClr val="dk1"/>
                </a:solidFill>
              </a:rPr>
              <a:t>Fuse</a:t>
            </a:r>
            <a:r>
              <a:rPr lang="zh-TW" altLang="en-US" sz="1600" b="1" dirty="0">
                <a:solidFill>
                  <a:schemeClr val="dk1"/>
                </a:solidFill>
              </a:rPr>
              <a:t>起來的  </a:t>
            </a:r>
            <a:r>
              <a:rPr lang="en-US" altLang="zh-TW" sz="1600" b="1" dirty="0" err="1">
                <a:solidFill>
                  <a:schemeClr val="dk1"/>
                </a:solidFill>
              </a:rPr>
              <a:t>列出來</a:t>
            </a:r>
            <a:r>
              <a:rPr lang="zh-TW" altLang="en-US" sz="1600" b="1" dirty="0">
                <a:solidFill>
                  <a:schemeClr val="dk1"/>
                </a:solidFill>
              </a:rPr>
              <a:t> 然後</a:t>
            </a:r>
            <a:r>
              <a:rPr lang="zh-TW" altLang="zh-TW" sz="1600" b="1" dirty="0">
                <a:solidFill>
                  <a:schemeClr val="dk1"/>
                </a:solidFill>
              </a:rPr>
              <a:t>最佳化</a:t>
            </a:r>
            <a:endParaRPr lang="en-US" altLang="zh-TW" sz="1600" dirty="0">
              <a:solidFill>
                <a:srgbClr val="000000"/>
              </a:solidFill>
              <a:latin typeface="Arial"/>
            </a:endParaRPr>
          </a:p>
          <a:p>
            <a:pPr marL="800280" lvl="1" indent="-343080" defTabSz="457200">
              <a:buClr>
                <a:srgbClr val="000000"/>
              </a:buClr>
              <a:buFont typeface="Wingdings" charset="2"/>
              <a:buChar char=""/>
            </a:pPr>
            <a:r>
              <a:rPr lang="en-US" altLang="zh-TW" sz="1600" b="1" dirty="0">
                <a:solidFill>
                  <a:schemeClr val="dk1"/>
                </a:solidFill>
              </a:rPr>
              <a:t>Check</a:t>
            </a:r>
            <a:r>
              <a:rPr lang="zh-TW" altLang="en-US" sz="1600" b="1" dirty="0">
                <a:solidFill>
                  <a:schemeClr val="dk1"/>
                </a:solidFill>
              </a:rPr>
              <a:t> </a:t>
            </a:r>
            <a:r>
              <a:rPr lang="en-US" altLang="zh-TW" sz="1600" b="1" dirty="0">
                <a:solidFill>
                  <a:schemeClr val="dk1"/>
                </a:solidFill>
              </a:rPr>
              <a:t>ETHZ_V6 Flow</a:t>
            </a:r>
            <a:r>
              <a:rPr lang="zh-TW" altLang="en-US" sz="1600" b="1" dirty="0">
                <a:solidFill>
                  <a:schemeClr val="dk1"/>
                </a:solidFill>
              </a:rPr>
              <a:t> 沒有切成 </a:t>
            </a:r>
            <a:r>
              <a:rPr lang="en-US" altLang="zh-TW" sz="1600" b="1" dirty="0">
                <a:solidFill>
                  <a:schemeClr val="dk1"/>
                </a:solidFill>
              </a:rPr>
              <a:t>Microblock</a:t>
            </a:r>
            <a:r>
              <a:rPr lang="zh-TW" altLang="en-US" sz="1600" b="1" dirty="0">
                <a:solidFill>
                  <a:schemeClr val="dk1"/>
                </a:solidFill>
              </a:rPr>
              <a:t> </a:t>
            </a:r>
            <a:r>
              <a:rPr lang="en-US" altLang="zh-TW" sz="1600" b="1" dirty="0" err="1">
                <a:solidFill>
                  <a:schemeClr val="dk1"/>
                </a:solidFill>
              </a:rPr>
              <a:t>列出來</a:t>
            </a:r>
            <a:r>
              <a:rPr lang="zh-TW" altLang="en-US" sz="1600" b="1" dirty="0">
                <a:solidFill>
                  <a:schemeClr val="dk1"/>
                </a:solidFill>
              </a:rPr>
              <a:t> 然後</a:t>
            </a:r>
            <a:r>
              <a:rPr lang="zh-TW" altLang="zh-TW" sz="1600" b="1" dirty="0">
                <a:solidFill>
                  <a:schemeClr val="dk1"/>
                </a:solidFill>
              </a:rPr>
              <a:t>最佳化</a:t>
            </a:r>
            <a:endParaRPr lang="en-US" altLang="zh-TW" sz="1600" b="1" dirty="0">
              <a:solidFill>
                <a:schemeClr val="dk1"/>
              </a:solidFill>
            </a:endParaRPr>
          </a:p>
          <a:p>
            <a:pPr marL="800280" lvl="1" indent="-343080" defTabSz="457200">
              <a:buClr>
                <a:srgbClr val="000000"/>
              </a:buClr>
              <a:buFont typeface="Wingdings" charset="2"/>
              <a:buChar char=""/>
            </a:pPr>
            <a:r>
              <a:rPr lang="en-US" altLang="zh-TW" sz="1600" b="1" dirty="0">
                <a:solidFill>
                  <a:schemeClr val="dk1"/>
                </a:solidFill>
              </a:rPr>
              <a:t>Check</a:t>
            </a:r>
            <a:r>
              <a:rPr lang="zh-TW" altLang="en-US" sz="1600" b="1" dirty="0">
                <a:solidFill>
                  <a:schemeClr val="dk1"/>
                </a:solidFill>
              </a:rPr>
              <a:t> </a:t>
            </a:r>
            <a:r>
              <a:rPr lang="en-US" altLang="zh-TW" sz="1600" b="1" dirty="0">
                <a:solidFill>
                  <a:schemeClr val="dk1"/>
                </a:solidFill>
              </a:rPr>
              <a:t>ETHZ_V6 Flow</a:t>
            </a:r>
            <a:r>
              <a:rPr lang="zh-TW" altLang="en-US" sz="1600" b="1" dirty="0">
                <a:solidFill>
                  <a:schemeClr val="dk1"/>
                </a:solidFill>
              </a:rPr>
              <a:t> 間 </a:t>
            </a:r>
            <a:r>
              <a:rPr lang="en-US" altLang="zh-TW" sz="1600" b="1" dirty="0">
                <a:solidFill>
                  <a:schemeClr val="dk1"/>
                </a:solidFill>
              </a:rPr>
              <a:t>Engine</a:t>
            </a:r>
            <a:r>
              <a:rPr lang="zh-TW" altLang="en-US" sz="1600" b="1" dirty="0">
                <a:solidFill>
                  <a:schemeClr val="dk1"/>
                </a:solidFill>
              </a:rPr>
              <a:t> 可以平行 沒有平行 </a:t>
            </a:r>
            <a:r>
              <a:rPr lang="en-US" altLang="zh-TW" sz="1600" b="1" dirty="0" err="1">
                <a:solidFill>
                  <a:schemeClr val="dk1"/>
                </a:solidFill>
              </a:rPr>
              <a:t>列出來</a:t>
            </a:r>
            <a:r>
              <a:rPr lang="zh-TW" altLang="en-US" sz="1600" b="1" dirty="0">
                <a:solidFill>
                  <a:schemeClr val="dk1"/>
                </a:solidFill>
              </a:rPr>
              <a:t> 然後</a:t>
            </a:r>
            <a:r>
              <a:rPr lang="zh-TW" altLang="zh-TW" sz="1600" b="1" dirty="0">
                <a:solidFill>
                  <a:schemeClr val="dk1"/>
                </a:solidFill>
              </a:rPr>
              <a:t>最佳化</a:t>
            </a:r>
            <a:endParaRPr lang="en-US" altLang="zh-TW" sz="1600" b="1" dirty="0">
              <a:solidFill>
                <a:schemeClr val="dk1"/>
              </a:solidFill>
            </a:endParaRPr>
          </a:p>
          <a:p>
            <a:pPr marL="800280" lvl="1" indent="-343080" defTabSz="457200">
              <a:buClr>
                <a:srgbClr val="000000"/>
              </a:buClr>
              <a:buFont typeface="Wingdings" charset="2"/>
              <a:buChar char=""/>
            </a:pPr>
            <a:r>
              <a:rPr lang="en-US" altLang="zh-TW" sz="1600" b="1" dirty="0">
                <a:solidFill>
                  <a:schemeClr val="dk1"/>
                </a:solidFill>
              </a:rPr>
              <a:t>Check</a:t>
            </a:r>
            <a:r>
              <a:rPr lang="zh-TW" altLang="en-US" sz="1600" b="1" dirty="0">
                <a:solidFill>
                  <a:schemeClr val="dk1"/>
                </a:solidFill>
              </a:rPr>
              <a:t> </a:t>
            </a:r>
            <a:r>
              <a:rPr lang="en-US" altLang="zh-TW" sz="1600" b="1" dirty="0">
                <a:solidFill>
                  <a:schemeClr val="dk1"/>
                </a:solidFill>
              </a:rPr>
              <a:t>ETHZ_V6 Flow</a:t>
            </a:r>
            <a:r>
              <a:rPr lang="zh-TW" altLang="en-US" sz="1600" b="1" dirty="0">
                <a:solidFill>
                  <a:schemeClr val="dk1"/>
                </a:solidFill>
              </a:rPr>
              <a:t> 間 可以 </a:t>
            </a:r>
            <a:r>
              <a:rPr lang="en-US" altLang="zh-TW" sz="1600" b="1" dirty="0" err="1">
                <a:solidFill>
                  <a:schemeClr val="dk1"/>
                </a:solidFill>
              </a:rPr>
              <a:t>Prefecth</a:t>
            </a:r>
            <a:r>
              <a:rPr lang="zh-TW" altLang="en-US" sz="1600" b="1" dirty="0">
                <a:solidFill>
                  <a:schemeClr val="dk1"/>
                </a:solidFill>
              </a:rPr>
              <a:t> 沒有 </a:t>
            </a:r>
            <a:r>
              <a:rPr lang="en-US" altLang="zh-TW" sz="1600" b="1" dirty="0" err="1">
                <a:solidFill>
                  <a:schemeClr val="dk1"/>
                </a:solidFill>
              </a:rPr>
              <a:t>Prefecth</a:t>
            </a:r>
            <a:r>
              <a:rPr lang="zh-TW" altLang="en-US" sz="1600" b="1" dirty="0">
                <a:solidFill>
                  <a:schemeClr val="dk1"/>
                </a:solidFill>
              </a:rPr>
              <a:t> </a:t>
            </a:r>
            <a:r>
              <a:rPr lang="en-US" altLang="zh-TW" sz="1600" b="1" dirty="0" err="1">
                <a:solidFill>
                  <a:schemeClr val="dk1"/>
                </a:solidFill>
              </a:rPr>
              <a:t>列出來</a:t>
            </a:r>
            <a:r>
              <a:rPr lang="zh-TW" altLang="en-US" sz="1600" b="1" dirty="0">
                <a:solidFill>
                  <a:schemeClr val="dk1"/>
                </a:solidFill>
              </a:rPr>
              <a:t> 然後</a:t>
            </a:r>
            <a:r>
              <a:rPr lang="zh-TW" altLang="zh-TW" sz="1600" b="1" dirty="0">
                <a:solidFill>
                  <a:schemeClr val="dk1"/>
                </a:solidFill>
              </a:rPr>
              <a:t>最佳化</a:t>
            </a:r>
            <a:endParaRPr lang="en-US" altLang="zh-TW" sz="1600" b="1" dirty="0">
              <a:solidFill>
                <a:schemeClr val="dk1"/>
              </a:solidFill>
            </a:endParaRPr>
          </a:p>
        </p:txBody>
      </p:sp>
      <p:sp>
        <p:nvSpPr>
          <p:cNvPr id="200" name="TextBox 23"/>
          <p:cNvSpPr/>
          <p:nvPr/>
        </p:nvSpPr>
        <p:spPr>
          <a:xfrm>
            <a:off x="1106424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5BCAE66-AA2A-9B6B-1CC9-3EB745DF5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3" b="13056"/>
          <a:stretch>
            <a:fillRect/>
          </a:stretch>
        </p:blipFill>
        <p:spPr>
          <a:xfrm>
            <a:off x="104466" y="2257269"/>
            <a:ext cx="11653014" cy="452670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14ED936-4930-E8C0-7660-BEE700C5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6" y="273600"/>
            <a:ext cx="4872936" cy="491331"/>
          </a:xfrm>
        </p:spPr>
        <p:txBody>
          <a:bodyPr/>
          <a:lstStyle/>
          <a:p>
            <a:r>
              <a:rPr lang="en-US" altLang="zh-TW" sz="2600" b="1" dirty="0">
                <a:solidFill>
                  <a:srgbClr val="183458"/>
                </a:solidFill>
                <a:latin typeface="Calibri"/>
                <a:ea typeface="+mn-ea"/>
                <a:cs typeface="+mn-cs"/>
              </a:rPr>
              <a:t>MDLA7 uArchSim Regression Table</a:t>
            </a:r>
            <a:r>
              <a:rPr lang="zh-TW" altLang="en-US" sz="2600" b="1" dirty="0">
                <a:solidFill>
                  <a:srgbClr val="183458"/>
                </a:solidFill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03A5A-E6DC-9BFF-BB18-40EE53CE7155}"/>
              </a:ext>
            </a:extLst>
          </p:cNvPr>
          <p:cNvSpPr/>
          <p:nvPr/>
        </p:nvSpPr>
        <p:spPr>
          <a:xfrm>
            <a:off x="495480" y="764931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642C401-A405-AB60-009F-A0BFD6BDC35A}"/>
              </a:ext>
            </a:extLst>
          </p:cNvPr>
          <p:cNvSpPr/>
          <p:nvPr/>
        </p:nvSpPr>
        <p:spPr>
          <a:xfrm>
            <a:off x="973109" y="1119262"/>
            <a:ext cx="4538133" cy="23300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1400" b="1" dirty="0">
                <a:solidFill>
                  <a:srgbClr val="183458"/>
                </a:solidFill>
                <a:latin typeface="Calibri"/>
              </a:rPr>
              <a:t>Clock</a:t>
            </a:r>
            <a:endParaRPr lang="en-US" altLang="zh-TW" sz="14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83458"/>
                </a:solidFill>
                <a:latin typeface="Calibri"/>
              </a:rPr>
              <a:t>Engine : 1.9GMHz</a:t>
            </a:r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1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SRAM : 1.3G</a:t>
            </a: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1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BW</a:t>
            </a:r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83458"/>
                </a:solidFill>
                <a:latin typeface="Calibri"/>
              </a:rPr>
              <a:t>DRAM : LPDDR5</a:t>
            </a:r>
            <a:endParaRPr lang="en-US" sz="14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14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1400" b="1" dirty="0">
                <a:solidFill>
                  <a:srgbClr val="183458"/>
                </a:solidFill>
                <a:latin typeface="Calibri"/>
              </a:rPr>
              <a:t>Computer Power</a:t>
            </a:r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83458"/>
                </a:solidFill>
                <a:latin typeface="Calibri"/>
              </a:rPr>
              <a:t>MDLA6: 4 Cores</a:t>
            </a:r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sz="1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MDLA7: 1 Cores ~~ MDLA6 2 Cores</a:t>
            </a: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defTabSz="457200">
              <a:lnSpc>
                <a:spcPct val="100000"/>
              </a:lnSpc>
              <a:buClr>
                <a:srgbClr val="000000"/>
              </a:buClr>
            </a:pPr>
            <a:endParaRPr lang="en-US" sz="1000" b="1" dirty="0">
              <a:solidFill>
                <a:schemeClr val="dk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4525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ECB5-E0C6-5E8D-7D33-5ABC1086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1">
            <a:extLst>
              <a:ext uri="{FF2B5EF4-FFF2-40B4-BE49-F238E27FC236}">
                <a16:creationId xmlns:a16="http://schemas.microsoft.com/office/drawing/2014/main" id="{376107CE-DB27-70A9-CABB-A00E8BE18C87}"/>
              </a:ext>
            </a:extLst>
          </p:cNvPr>
          <p:cNvSpPr/>
          <p:nvPr/>
        </p:nvSpPr>
        <p:spPr>
          <a:xfrm>
            <a:off x="502920" y="255960"/>
            <a:ext cx="786348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Modeling for L1Mesh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3">
            <a:extLst>
              <a:ext uri="{FF2B5EF4-FFF2-40B4-BE49-F238E27FC236}">
                <a16:creationId xmlns:a16="http://schemas.microsoft.com/office/drawing/2014/main" id="{58E1B20D-9E28-6D19-E290-861CD4FE6432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5">
            <a:extLst>
              <a:ext uri="{FF2B5EF4-FFF2-40B4-BE49-F238E27FC236}">
                <a16:creationId xmlns:a16="http://schemas.microsoft.com/office/drawing/2014/main" id="{E4E34E5D-C94D-EFF0-FBE5-FBB6EDB76657}"/>
              </a:ext>
            </a:extLst>
          </p:cNvPr>
          <p:cNvSpPr/>
          <p:nvPr/>
        </p:nvSpPr>
        <p:spPr>
          <a:xfrm>
            <a:off x="898186" y="1238795"/>
            <a:ext cx="8834040" cy="40997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Methodology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Top down  (0.5 hours)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Bottom up (2 Weeks)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24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Hierarchy 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SRAM Macro (1 Port R/W, 768x16Bytes, 12K)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Quad SRAM Macro (4 Port R/W, 48K)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Mesh4x4 (16*Quad SRAM Macro, 768K)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57200" defTabSz="457200">
              <a:lnSpc>
                <a:spcPct val="100000"/>
              </a:lnSpc>
              <a:buClr>
                <a:srgbClr val="183458"/>
              </a:buClr>
              <a:buFont typeface="Wingdings" pitchFamily="2" charset="2"/>
              <a:buChar char="l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L1Mesh (4*Mesh4x4,3M)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183458"/>
              </a:buClr>
              <a:buFont typeface="Arial"/>
              <a:buChar char="•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Edge Injection match R/W Requests (32R+32W+16R+16W)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457200" defTabSz="457200">
              <a:lnSpc>
                <a:spcPct val="100000"/>
              </a:lnSpc>
              <a:buClr>
                <a:srgbClr val="183458"/>
              </a:buClr>
              <a:buFont typeface="Arial"/>
              <a:buChar char="•"/>
            </a:pP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2xMesh4x4 mapping to same 16*Quad SRAM Macro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3">
            <a:extLst>
              <a:ext uri="{FF2B5EF4-FFF2-40B4-BE49-F238E27FC236}">
                <a16:creationId xmlns:a16="http://schemas.microsoft.com/office/drawing/2014/main" id="{DE961B87-056C-A94D-1CBF-8BFEFA17C654}"/>
              </a:ext>
            </a:extLst>
          </p:cNvPr>
          <p:cNvSpPr/>
          <p:nvPr/>
        </p:nvSpPr>
        <p:spPr>
          <a:xfrm>
            <a:off x="1106424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6663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502920" y="255960"/>
            <a:ext cx="7863480" cy="43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Regression Table &amp; L1Mesh Evaluation 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3"/>
          <p:cNvSpPr/>
          <p:nvPr/>
        </p:nvSpPr>
        <p:spPr>
          <a:xfrm>
            <a:off x="11064240" y="644652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E6875"/>
                </a:solidFill>
                <a:effectLst/>
                <a:uFillTx/>
                <a:latin typeface="Calibri"/>
              </a:rPr>
              <a:t>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圖片 2"/>
          <p:cNvPicPr/>
          <p:nvPr/>
        </p:nvPicPr>
        <p:blipFill>
          <a:blip r:embed="rId2"/>
          <a:stretch/>
        </p:blipFill>
        <p:spPr>
          <a:xfrm>
            <a:off x="1752480" y="1132920"/>
            <a:ext cx="8686440" cy="54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圓角矩形 4"/>
          <p:cNvSpPr/>
          <p:nvPr/>
        </p:nvSpPr>
        <p:spPr>
          <a:xfrm>
            <a:off x="7552800" y="1626840"/>
            <a:ext cx="642960" cy="4974840"/>
          </a:xfrm>
          <a:prstGeom prst="roundRect">
            <a:avLst>
              <a:gd name="adj" fmla="val 16667"/>
            </a:avLst>
          </a:prstGeom>
          <a:noFill/>
          <a:ln w="4127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圓角矩形 6"/>
          <p:cNvSpPr/>
          <p:nvPr/>
        </p:nvSpPr>
        <p:spPr>
          <a:xfrm>
            <a:off x="9590760" y="1626840"/>
            <a:ext cx="848520" cy="4974840"/>
          </a:xfrm>
          <a:prstGeom prst="roundRect">
            <a:avLst>
              <a:gd name="adj" fmla="val 16667"/>
            </a:avLst>
          </a:prstGeom>
          <a:noFill/>
          <a:ln w="635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21B0FC-C2F1-5E0E-8955-43C19321F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1033"/>
            <a:ext cx="10972440" cy="742400"/>
          </a:xfrm>
        </p:spPr>
        <p:txBody>
          <a:bodyPr/>
          <a:lstStyle/>
          <a:p>
            <a:r>
              <a:rPr lang="en-US" altLang="zh-TW" sz="2600" b="1" dirty="0">
                <a:solidFill>
                  <a:srgbClr val="183458"/>
                </a:solidFill>
                <a:latin typeface="Calibri"/>
                <a:ea typeface="+mn-ea"/>
                <a:cs typeface="+mn-cs"/>
              </a:rPr>
              <a:t>L1Mesh Evaluation (v0.1 version)</a:t>
            </a:r>
            <a:endParaRPr lang="zh-TW" altLang="en-US" sz="2600" b="1" dirty="0">
              <a:solidFill>
                <a:srgbClr val="183458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B3F18-68BC-89E4-21B3-07D874E11828}"/>
              </a:ext>
            </a:extLst>
          </p:cNvPr>
          <p:cNvSpPr/>
          <p:nvPr/>
        </p:nvSpPr>
        <p:spPr>
          <a:xfrm>
            <a:off x="380880" y="640657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9665232-E357-2A11-F3CB-FAA9D3E552D9}"/>
              </a:ext>
            </a:extLst>
          </p:cNvPr>
          <p:cNvSpPr/>
          <p:nvPr/>
        </p:nvSpPr>
        <p:spPr>
          <a:xfrm>
            <a:off x="305323" y="904923"/>
            <a:ext cx="8786426" cy="6218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400" b="1" dirty="0">
                <a:solidFill>
                  <a:srgbClr val="183458"/>
                </a:solidFill>
                <a:latin typeface="Calibri"/>
              </a:rPr>
              <a:t>L1Mesh Simulation Mode : </a:t>
            </a:r>
            <a:r>
              <a:rPr lang="en-US" sz="24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Fast/S</a:t>
            </a:r>
            <a:r>
              <a:rPr lang="en-US" sz="2400" b="1" dirty="0">
                <a:solidFill>
                  <a:srgbClr val="183458"/>
                </a:solidFill>
                <a:latin typeface="Calibri"/>
              </a:rPr>
              <a:t>RAM Port Conflict/Mesh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defTabSz="457200">
              <a:lnSpc>
                <a:spcPct val="100000"/>
              </a:lnSpc>
              <a:buClr>
                <a:srgbClr val="000000"/>
              </a:buClr>
            </a:pPr>
            <a:endParaRPr lang="en-US" sz="1400" b="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B08516A-4508-0966-60DC-76173768D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2" b="14703"/>
          <a:stretch>
            <a:fillRect/>
          </a:stretch>
        </p:blipFill>
        <p:spPr>
          <a:xfrm>
            <a:off x="141155" y="1894690"/>
            <a:ext cx="11771553" cy="448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67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72A1-049C-BB99-31CB-E7C231C6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12354772-6D8E-1554-0B6E-0A7152C729FE}"/>
              </a:ext>
            </a:extLst>
          </p:cNvPr>
          <p:cNvSpPr/>
          <p:nvPr/>
        </p:nvSpPr>
        <p:spPr>
          <a:xfrm>
            <a:off x="502920" y="255960"/>
            <a:ext cx="786348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lvl="0"/>
            <a:r>
              <a:rPr lang="en-US" altLang="zh-TW" sz="32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Verilog Simulator Comparison</a:t>
            </a:r>
            <a:endParaRPr lang="zh-TW" alt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9971FC-27B2-72B4-4BC7-5BBAB5675456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8" name="Google Shape;207;p21">
            <a:extLst>
              <a:ext uri="{FF2B5EF4-FFF2-40B4-BE49-F238E27FC236}">
                <a16:creationId xmlns:a16="http://schemas.microsoft.com/office/drawing/2014/main" id="{C300F8F1-6810-F233-AFE0-D0844B16CA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4369014"/>
              </p:ext>
            </p:extLst>
          </p:nvPr>
        </p:nvGraphicFramePr>
        <p:xfrm>
          <a:off x="762000" y="2151757"/>
          <a:ext cx="10668000" cy="3135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9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1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評比項目</a:t>
                      </a:r>
                      <a:endParaRPr sz="2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Verilator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Icarus Verilog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商用模擬器 (VCS/Questa)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1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效能 (Speed)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極高 (最快)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低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極高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1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精確度 (Accuracy)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週期精確</a:t>
                      </a:r>
                      <a:endParaRPr sz="2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全時序精確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全時序精確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1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License 費用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 (開源)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 (開源)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極高 (按 Core 計費)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1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主要用途</a:t>
                      </a:r>
                      <a:endParaRPr sz="2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SoC/CPU 功能驗證</a:t>
                      </a:r>
                      <a:endParaRPr sz="2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單元測試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/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教學</a:t>
                      </a:r>
                      <a:endParaRPr sz="2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全面簽核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(Sign-off)</a:t>
                      </a:r>
                      <a:endParaRPr sz="2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Google Shape;208;p21">
            <a:extLst>
              <a:ext uri="{FF2B5EF4-FFF2-40B4-BE49-F238E27FC236}">
                <a16:creationId xmlns:a16="http://schemas.microsoft.com/office/drawing/2014/main" id="{1F85EF3E-EF75-659F-A141-CB805FE07861}"/>
              </a:ext>
            </a:extLst>
          </p:cNvPr>
          <p:cNvSpPr/>
          <p:nvPr/>
        </p:nvSpPr>
        <p:spPr>
          <a:xfrm>
            <a:off x="762000" y="2751832"/>
            <a:ext cx="269780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09;p21">
            <a:extLst>
              <a:ext uri="{FF2B5EF4-FFF2-40B4-BE49-F238E27FC236}">
                <a16:creationId xmlns:a16="http://schemas.microsoft.com/office/drawing/2014/main" id="{E381814A-DEFA-3FCC-BF97-22E701D826A8}"/>
              </a:ext>
            </a:extLst>
          </p:cNvPr>
          <p:cNvSpPr/>
          <p:nvPr/>
        </p:nvSpPr>
        <p:spPr>
          <a:xfrm>
            <a:off x="3459807" y="2751832"/>
            <a:ext cx="269780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210;p21">
            <a:extLst>
              <a:ext uri="{FF2B5EF4-FFF2-40B4-BE49-F238E27FC236}">
                <a16:creationId xmlns:a16="http://schemas.microsoft.com/office/drawing/2014/main" id="{3ECA4A34-A1A3-D792-6C0D-12B2EFA366F6}"/>
              </a:ext>
            </a:extLst>
          </p:cNvPr>
          <p:cNvSpPr/>
          <p:nvPr/>
        </p:nvSpPr>
        <p:spPr>
          <a:xfrm>
            <a:off x="6157614" y="2751832"/>
            <a:ext cx="210889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11;p21">
            <a:extLst>
              <a:ext uri="{FF2B5EF4-FFF2-40B4-BE49-F238E27FC236}">
                <a16:creationId xmlns:a16="http://schemas.microsoft.com/office/drawing/2014/main" id="{BC1501E5-D682-E02E-22A7-08AFA1F3FB9F}"/>
              </a:ext>
            </a:extLst>
          </p:cNvPr>
          <p:cNvSpPr/>
          <p:nvPr/>
        </p:nvSpPr>
        <p:spPr>
          <a:xfrm>
            <a:off x="8266509" y="2751832"/>
            <a:ext cx="316349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212;p21">
            <a:extLst>
              <a:ext uri="{FF2B5EF4-FFF2-40B4-BE49-F238E27FC236}">
                <a16:creationId xmlns:a16="http://schemas.microsoft.com/office/drawing/2014/main" id="{7846383A-B5E4-666A-107B-65317B4C9342}"/>
              </a:ext>
            </a:extLst>
          </p:cNvPr>
          <p:cNvSpPr/>
          <p:nvPr/>
        </p:nvSpPr>
        <p:spPr>
          <a:xfrm>
            <a:off x="762000" y="3392834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213;p21">
            <a:extLst>
              <a:ext uri="{FF2B5EF4-FFF2-40B4-BE49-F238E27FC236}">
                <a16:creationId xmlns:a16="http://schemas.microsoft.com/office/drawing/2014/main" id="{1229542F-FDFD-F65E-E28F-A274366040C6}"/>
              </a:ext>
            </a:extLst>
          </p:cNvPr>
          <p:cNvSpPr/>
          <p:nvPr/>
        </p:nvSpPr>
        <p:spPr>
          <a:xfrm>
            <a:off x="3459807" y="3392834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214;p21">
            <a:extLst>
              <a:ext uri="{FF2B5EF4-FFF2-40B4-BE49-F238E27FC236}">
                <a16:creationId xmlns:a16="http://schemas.microsoft.com/office/drawing/2014/main" id="{671746DB-0E84-0519-2595-D3AD7268B76A}"/>
              </a:ext>
            </a:extLst>
          </p:cNvPr>
          <p:cNvSpPr/>
          <p:nvPr/>
        </p:nvSpPr>
        <p:spPr>
          <a:xfrm>
            <a:off x="6157614" y="3392834"/>
            <a:ext cx="21088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215;p21">
            <a:extLst>
              <a:ext uri="{FF2B5EF4-FFF2-40B4-BE49-F238E27FC236}">
                <a16:creationId xmlns:a16="http://schemas.microsoft.com/office/drawing/2014/main" id="{966E7F81-2FE3-4775-FD06-6284DA3ED5A2}"/>
              </a:ext>
            </a:extLst>
          </p:cNvPr>
          <p:cNvSpPr/>
          <p:nvPr/>
        </p:nvSpPr>
        <p:spPr>
          <a:xfrm>
            <a:off x="8266509" y="3392834"/>
            <a:ext cx="3163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216;p21">
            <a:extLst>
              <a:ext uri="{FF2B5EF4-FFF2-40B4-BE49-F238E27FC236}">
                <a16:creationId xmlns:a16="http://schemas.microsoft.com/office/drawing/2014/main" id="{5BBF3B9D-0958-9083-913E-E3BCD42AC377}"/>
              </a:ext>
            </a:extLst>
          </p:cNvPr>
          <p:cNvSpPr/>
          <p:nvPr/>
        </p:nvSpPr>
        <p:spPr>
          <a:xfrm>
            <a:off x="762000" y="4019550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217;p21">
            <a:extLst>
              <a:ext uri="{FF2B5EF4-FFF2-40B4-BE49-F238E27FC236}">
                <a16:creationId xmlns:a16="http://schemas.microsoft.com/office/drawing/2014/main" id="{0CB09D3C-3512-0F78-D7A1-64EF68AD4B83}"/>
              </a:ext>
            </a:extLst>
          </p:cNvPr>
          <p:cNvSpPr/>
          <p:nvPr/>
        </p:nvSpPr>
        <p:spPr>
          <a:xfrm>
            <a:off x="3459807" y="4019550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218;p21">
            <a:extLst>
              <a:ext uri="{FF2B5EF4-FFF2-40B4-BE49-F238E27FC236}">
                <a16:creationId xmlns:a16="http://schemas.microsoft.com/office/drawing/2014/main" id="{5171DFE3-AFC7-4E49-7C5F-EABB7DBC1299}"/>
              </a:ext>
            </a:extLst>
          </p:cNvPr>
          <p:cNvSpPr/>
          <p:nvPr/>
        </p:nvSpPr>
        <p:spPr>
          <a:xfrm>
            <a:off x="6157614" y="4019550"/>
            <a:ext cx="21088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219;p21">
            <a:extLst>
              <a:ext uri="{FF2B5EF4-FFF2-40B4-BE49-F238E27FC236}">
                <a16:creationId xmlns:a16="http://schemas.microsoft.com/office/drawing/2014/main" id="{FDC92D4B-BA11-FA05-6883-432DE3B806E5}"/>
              </a:ext>
            </a:extLst>
          </p:cNvPr>
          <p:cNvSpPr/>
          <p:nvPr/>
        </p:nvSpPr>
        <p:spPr>
          <a:xfrm>
            <a:off x="8266509" y="4019550"/>
            <a:ext cx="3163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220;p21">
            <a:extLst>
              <a:ext uri="{FF2B5EF4-FFF2-40B4-BE49-F238E27FC236}">
                <a16:creationId xmlns:a16="http://schemas.microsoft.com/office/drawing/2014/main" id="{369BB6BC-70A7-1F5E-49F5-FF1E05CFBFD1}"/>
              </a:ext>
            </a:extLst>
          </p:cNvPr>
          <p:cNvSpPr/>
          <p:nvPr/>
        </p:nvSpPr>
        <p:spPr>
          <a:xfrm>
            <a:off x="762000" y="4646265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221;p21">
            <a:extLst>
              <a:ext uri="{FF2B5EF4-FFF2-40B4-BE49-F238E27FC236}">
                <a16:creationId xmlns:a16="http://schemas.microsoft.com/office/drawing/2014/main" id="{AC42A05A-4A7B-E78E-8CA2-B386C2C00BE0}"/>
              </a:ext>
            </a:extLst>
          </p:cNvPr>
          <p:cNvSpPr/>
          <p:nvPr/>
        </p:nvSpPr>
        <p:spPr>
          <a:xfrm>
            <a:off x="3459807" y="4646265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222;p21">
            <a:extLst>
              <a:ext uri="{FF2B5EF4-FFF2-40B4-BE49-F238E27FC236}">
                <a16:creationId xmlns:a16="http://schemas.microsoft.com/office/drawing/2014/main" id="{BD7362BE-3931-61BE-4E4F-2A533C92B56A}"/>
              </a:ext>
            </a:extLst>
          </p:cNvPr>
          <p:cNvSpPr/>
          <p:nvPr/>
        </p:nvSpPr>
        <p:spPr>
          <a:xfrm>
            <a:off x="6157614" y="4646265"/>
            <a:ext cx="21088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223;p21">
            <a:extLst>
              <a:ext uri="{FF2B5EF4-FFF2-40B4-BE49-F238E27FC236}">
                <a16:creationId xmlns:a16="http://schemas.microsoft.com/office/drawing/2014/main" id="{2BF0A7F3-0CCA-2AE9-CF7E-DDA5A72C453D}"/>
              </a:ext>
            </a:extLst>
          </p:cNvPr>
          <p:cNvSpPr/>
          <p:nvPr/>
        </p:nvSpPr>
        <p:spPr>
          <a:xfrm>
            <a:off x="8266509" y="4646265"/>
            <a:ext cx="3163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224;p21">
            <a:extLst>
              <a:ext uri="{FF2B5EF4-FFF2-40B4-BE49-F238E27FC236}">
                <a16:creationId xmlns:a16="http://schemas.microsoft.com/office/drawing/2014/main" id="{C8E55728-C313-58AA-2F6F-336FAC740672}"/>
              </a:ext>
            </a:extLst>
          </p:cNvPr>
          <p:cNvSpPr/>
          <p:nvPr/>
        </p:nvSpPr>
        <p:spPr>
          <a:xfrm>
            <a:off x="762000" y="5272980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225;p21">
            <a:extLst>
              <a:ext uri="{FF2B5EF4-FFF2-40B4-BE49-F238E27FC236}">
                <a16:creationId xmlns:a16="http://schemas.microsoft.com/office/drawing/2014/main" id="{389C5558-0717-A41E-99CE-FD3F004E4761}"/>
              </a:ext>
            </a:extLst>
          </p:cNvPr>
          <p:cNvSpPr/>
          <p:nvPr/>
        </p:nvSpPr>
        <p:spPr>
          <a:xfrm>
            <a:off x="3459807" y="5272980"/>
            <a:ext cx="269780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226;p21">
            <a:extLst>
              <a:ext uri="{FF2B5EF4-FFF2-40B4-BE49-F238E27FC236}">
                <a16:creationId xmlns:a16="http://schemas.microsoft.com/office/drawing/2014/main" id="{213E5EB7-C16A-D812-C274-020DC647C58F}"/>
              </a:ext>
            </a:extLst>
          </p:cNvPr>
          <p:cNvSpPr/>
          <p:nvPr/>
        </p:nvSpPr>
        <p:spPr>
          <a:xfrm>
            <a:off x="6157614" y="5272980"/>
            <a:ext cx="210889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227;p21">
            <a:extLst>
              <a:ext uri="{FF2B5EF4-FFF2-40B4-BE49-F238E27FC236}">
                <a16:creationId xmlns:a16="http://schemas.microsoft.com/office/drawing/2014/main" id="{49FBA8A5-3341-F4DC-73B7-81880B1313E2}"/>
              </a:ext>
            </a:extLst>
          </p:cNvPr>
          <p:cNvSpPr/>
          <p:nvPr/>
        </p:nvSpPr>
        <p:spPr>
          <a:xfrm>
            <a:off x="8266509" y="5272980"/>
            <a:ext cx="316349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5579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F4679BDF-C3E0-05D9-FCE1-0151AB4D4FFB}"/>
              </a:ext>
            </a:extLst>
          </p:cNvPr>
          <p:cNvSpPr/>
          <p:nvPr/>
        </p:nvSpPr>
        <p:spPr>
          <a:xfrm>
            <a:off x="502920" y="255960"/>
            <a:ext cx="786348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Verilog Run with Verilator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E53C55-2399-7CB7-A77F-7F26DBCD78E3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E8FB42A0-1AB2-8C2D-D106-7BB5FD6A2673}"/>
              </a:ext>
            </a:extLst>
          </p:cNvPr>
          <p:cNvGrpSpPr/>
          <p:nvPr/>
        </p:nvGrpSpPr>
        <p:grpSpPr>
          <a:xfrm>
            <a:off x="502920" y="1515442"/>
            <a:ext cx="5048250" cy="2203995"/>
            <a:chOff x="502920" y="1515442"/>
            <a:chExt cx="5048250" cy="2203995"/>
          </a:xfrm>
        </p:grpSpPr>
        <p:pic>
          <p:nvPicPr>
            <p:cNvPr id="13" name="Google Shape;101;p15" descr="image.png">
              <a:extLst>
                <a:ext uri="{FF2B5EF4-FFF2-40B4-BE49-F238E27FC236}">
                  <a16:creationId xmlns:a16="http://schemas.microsoft.com/office/drawing/2014/main" id="{CF1D7527-E59C-C85B-AC6F-2584A4CC65E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02920" y="1515442"/>
              <a:ext cx="5048250" cy="22039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05;p15">
              <a:extLst>
                <a:ext uri="{FF2B5EF4-FFF2-40B4-BE49-F238E27FC236}">
                  <a16:creationId xmlns:a16="http://schemas.microsoft.com/office/drawing/2014/main" id="{80991832-B009-A94E-5782-551FB551E7F8}"/>
                </a:ext>
              </a:extLst>
            </p:cNvPr>
            <p:cNvSpPr txBox="1"/>
            <p:nvPr/>
          </p:nvSpPr>
          <p:spPr>
            <a:xfrm>
              <a:off x="893445" y="1905967"/>
              <a:ext cx="44805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0" rIns="0" bIns="0" anchor="t" anchorCtr="0">
              <a:sp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r>
                <a:rPr lang="en-US" b="1" kern="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Verilator (Compiled)</a:t>
              </a:r>
              <a:endParaRPr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106;p15">
              <a:extLst>
                <a:ext uri="{FF2B5EF4-FFF2-40B4-BE49-F238E27FC236}">
                  <a16:creationId xmlns:a16="http://schemas.microsoft.com/office/drawing/2014/main" id="{B4706504-34DA-FB0F-9125-A1099A269138}"/>
                </a:ext>
              </a:extLst>
            </p:cNvPr>
            <p:cNvSpPr txBox="1"/>
            <p:nvPr/>
          </p:nvSpPr>
          <p:spPr>
            <a:xfrm>
              <a:off x="893445" y="2296492"/>
              <a:ext cx="4267200" cy="1181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將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RTL </a:t>
              </a: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直接編譯為優化的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600" b="1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C++/</a:t>
              </a:r>
              <a:r>
                <a:rPr lang="en-US" sz="1600" b="1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SystemC</a:t>
              </a: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。它主要採用</a:t>
              </a:r>
              <a:r>
                <a:rPr lang="en-US" sz="1600" b="1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週期精確</a:t>
              </a:r>
              <a:r>
                <a:rPr lang="en-US" sz="1600" b="1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(Cycle-accurate)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的模擬方式，犧牲了時序細節以換取極致的運算速度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。</a:t>
              </a:r>
              <a:endParaRPr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19" name="Google Shape;109;p15" descr="image.png">
              <a:extLst>
                <a:ext uri="{FF2B5EF4-FFF2-40B4-BE49-F238E27FC236}">
                  <a16:creationId xmlns:a16="http://schemas.microsoft.com/office/drawing/2014/main" id="{CACF2BA1-2F54-A549-D570-528C041B837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93445" y="1925017"/>
              <a:ext cx="152400" cy="1782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DE4523D-6CD8-4990-B79B-2B21459AC089}"/>
              </a:ext>
            </a:extLst>
          </p:cNvPr>
          <p:cNvGrpSpPr/>
          <p:nvPr/>
        </p:nvGrpSpPr>
        <p:grpSpPr>
          <a:xfrm>
            <a:off x="609600" y="4076404"/>
            <a:ext cx="5048250" cy="2203995"/>
            <a:chOff x="6381750" y="2617440"/>
            <a:chExt cx="5048250" cy="2203995"/>
          </a:xfrm>
        </p:grpSpPr>
        <p:pic>
          <p:nvPicPr>
            <p:cNvPr id="14" name="Google Shape;102;p15" descr="image.png">
              <a:extLst>
                <a:ext uri="{FF2B5EF4-FFF2-40B4-BE49-F238E27FC236}">
                  <a16:creationId xmlns:a16="http://schemas.microsoft.com/office/drawing/2014/main" id="{B46FBE41-D58D-AEDE-1D73-737DCA3D9B5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381750" y="2617440"/>
              <a:ext cx="5048250" cy="22039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07;p15">
              <a:extLst>
                <a:ext uri="{FF2B5EF4-FFF2-40B4-BE49-F238E27FC236}">
                  <a16:creationId xmlns:a16="http://schemas.microsoft.com/office/drawing/2014/main" id="{CB305AE4-53E3-1044-EAC4-F3D854D14C8B}"/>
                </a:ext>
              </a:extLst>
            </p:cNvPr>
            <p:cNvSpPr txBox="1"/>
            <p:nvPr/>
          </p:nvSpPr>
          <p:spPr>
            <a:xfrm>
              <a:off x="6772275" y="3007965"/>
              <a:ext cx="448056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975" tIns="0" rIns="0" bIns="0" anchor="t" anchorCtr="0">
              <a:sp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r>
                <a:rPr lang="en-US" b="1" kern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傳統模擬 (Event-driven)</a:t>
              </a:r>
              <a:endParaRPr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108;p15">
              <a:extLst>
                <a:ext uri="{FF2B5EF4-FFF2-40B4-BE49-F238E27FC236}">
                  <a16:creationId xmlns:a16="http://schemas.microsoft.com/office/drawing/2014/main" id="{73D7DE74-0436-476B-5343-EBABABE18AA7}"/>
                </a:ext>
              </a:extLst>
            </p:cNvPr>
            <p:cNvSpPr txBox="1"/>
            <p:nvPr/>
          </p:nvSpPr>
          <p:spPr>
            <a:xfrm>
              <a:off x="6772275" y="3436590"/>
              <a:ext cx="4267200" cy="1181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如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Icarus </a:t>
              </a: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Verilog。逐個事件處理，支援精確的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600" b="1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#delay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與四態邏輯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(X/Z)，</a:t>
              </a: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但處理大型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SoC </a:t>
              </a:r>
              <a:r>
                <a:rPr lang="en-US" sz="160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時速度極慢，成為驗證瓶頸</a:t>
              </a:r>
              <a:r>
                <a:rPr lang="en-US" sz="160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。</a:t>
              </a:r>
              <a:endParaRPr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20" name="Google Shape;110;p15" descr="image.png">
              <a:extLst>
                <a:ext uri="{FF2B5EF4-FFF2-40B4-BE49-F238E27FC236}">
                  <a16:creationId xmlns:a16="http://schemas.microsoft.com/office/drawing/2014/main" id="{CAFC6F6E-8590-CC94-614A-A0226C8BB00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72275" y="3065115"/>
              <a:ext cx="180975" cy="1782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" name="Google Shape;175;p19" descr="image.png">
            <a:extLst>
              <a:ext uri="{FF2B5EF4-FFF2-40B4-BE49-F238E27FC236}">
                <a16:creationId xmlns:a16="http://schemas.microsoft.com/office/drawing/2014/main" id="{D8886DDD-69AA-DD54-F527-EEE562BE131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4530" y="1390964"/>
            <a:ext cx="5747385" cy="2601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群組 39">
            <a:extLst>
              <a:ext uri="{FF2B5EF4-FFF2-40B4-BE49-F238E27FC236}">
                <a16:creationId xmlns:a16="http://schemas.microsoft.com/office/drawing/2014/main" id="{07727A00-C52D-E031-E078-267256D3BC23}"/>
              </a:ext>
            </a:extLst>
          </p:cNvPr>
          <p:cNvGrpSpPr/>
          <p:nvPr/>
        </p:nvGrpSpPr>
        <p:grpSpPr>
          <a:xfrm>
            <a:off x="6534150" y="4299703"/>
            <a:ext cx="5048250" cy="1757396"/>
            <a:chOff x="2286000" y="2728019"/>
            <a:chExt cx="7620000" cy="1982986"/>
          </a:xfrm>
        </p:grpSpPr>
        <p:sp>
          <p:nvSpPr>
            <p:cNvPr id="41" name="Google Shape;186;p20">
              <a:extLst>
                <a:ext uri="{FF2B5EF4-FFF2-40B4-BE49-F238E27FC236}">
                  <a16:creationId xmlns:a16="http://schemas.microsoft.com/office/drawing/2014/main" id="{9D1B25BE-37D9-C1E6-246F-69B25A59276D}"/>
                </a:ext>
              </a:extLst>
            </p:cNvPr>
            <p:cNvSpPr txBox="1"/>
            <p:nvPr/>
          </p:nvSpPr>
          <p:spPr>
            <a:xfrm>
              <a:off x="2286000" y="2728019"/>
              <a:ext cx="7620000" cy="283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275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350" b="1" kern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IEEE 1800-2017:</a:t>
              </a:r>
              <a:r>
                <a:rPr lang="en-US" sz="1350" kern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高度支援最新的 SystemVerilog 標準。</a:t>
              </a: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187;p20">
              <a:extLst>
                <a:ext uri="{FF2B5EF4-FFF2-40B4-BE49-F238E27FC236}">
                  <a16:creationId xmlns:a16="http://schemas.microsoft.com/office/drawing/2014/main" id="{87DBC219-6C35-C56B-8A5B-C482E791BBD2}"/>
                </a:ext>
              </a:extLst>
            </p:cNvPr>
            <p:cNvSpPr/>
            <p:nvPr/>
          </p:nvSpPr>
          <p:spPr>
            <a:xfrm>
              <a:off x="2286000" y="3145184"/>
              <a:ext cx="7620000" cy="9525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kern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88;p20">
              <a:extLst>
                <a:ext uri="{FF2B5EF4-FFF2-40B4-BE49-F238E27FC236}">
                  <a16:creationId xmlns:a16="http://schemas.microsoft.com/office/drawing/2014/main" id="{320276B0-AE43-2585-7BA0-DFA4F7FB454E}"/>
                </a:ext>
              </a:extLst>
            </p:cNvPr>
            <p:cNvSpPr txBox="1"/>
            <p:nvPr/>
          </p:nvSpPr>
          <p:spPr>
            <a:xfrm>
              <a:off x="2286000" y="3297584"/>
              <a:ext cx="7620000" cy="283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275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350" b="1" kern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Assertions (SVA):</a:t>
              </a:r>
              <a:r>
                <a:rPr lang="en-US" sz="1350" kern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支援並行與即時斷言檢查。</a:t>
              </a: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189;p20">
              <a:extLst>
                <a:ext uri="{FF2B5EF4-FFF2-40B4-BE49-F238E27FC236}">
                  <a16:creationId xmlns:a16="http://schemas.microsoft.com/office/drawing/2014/main" id="{10B1342B-E07C-887C-1802-4409F46BEA44}"/>
                </a:ext>
              </a:extLst>
            </p:cNvPr>
            <p:cNvSpPr/>
            <p:nvPr/>
          </p:nvSpPr>
          <p:spPr>
            <a:xfrm>
              <a:off x="2286000" y="3714750"/>
              <a:ext cx="7620000" cy="9525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kern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90;p20">
              <a:extLst>
                <a:ext uri="{FF2B5EF4-FFF2-40B4-BE49-F238E27FC236}">
                  <a16:creationId xmlns:a16="http://schemas.microsoft.com/office/drawing/2014/main" id="{0F76974D-C1F7-ADB9-3CE2-CAEF40152F9F}"/>
                </a:ext>
              </a:extLst>
            </p:cNvPr>
            <p:cNvSpPr txBox="1"/>
            <p:nvPr/>
          </p:nvSpPr>
          <p:spPr>
            <a:xfrm>
              <a:off x="2286000" y="3867150"/>
              <a:ext cx="7620000" cy="283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275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350" b="1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VPI/DPI:</a:t>
              </a:r>
              <a:r>
                <a:rPr lang="en-US" sz="135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5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完善的</a:t>
              </a:r>
              <a:r>
                <a:rPr lang="en-US" sz="135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C/</a:t>
              </a:r>
              <a:r>
                <a:rPr lang="en-US" sz="135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SystemVerilog</a:t>
              </a:r>
              <a:r>
                <a:rPr lang="en-US" sz="135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350" kern="0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外掛介面支援</a:t>
              </a:r>
              <a:r>
                <a:rPr lang="en-US" sz="1350" kern="0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。</a:t>
              </a:r>
              <a:endParaRPr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191;p20">
              <a:extLst>
                <a:ext uri="{FF2B5EF4-FFF2-40B4-BE49-F238E27FC236}">
                  <a16:creationId xmlns:a16="http://schemas.microsoft.com/office/drawing/2014/main" id="{B7836470-D01D-85DD-F5D7-62DEF474BB61}"/>
                </a:ext>
              </a:extLst>
            </p:cNvPr>
            <p:cNvSpPr/>
            <p:nvPr/>
          </p:nvSpPr>
          <p:spPr>
            <a:xfrm>
              <a:off x="2286000" y="4284315"/>
              <a:ext cx="7620000" cy="9525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kern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92;p20">
              <a:extLst>
                <a:ext uri="{FF2B5EF4-FFF2-40B4-BE49-F238E27FC236}">
                  <a16:creationId xmlns:a16="http://schemas.microsoft.com/office/drawing/2014/main" id="{1E50F84D-A9C6-6A62-F74C-74DB77659052}"/>
                </a:ext>
              </a:extLst>
            </p:cNvPr>
            <p:cNvSpPr txBox="1"/>
            <p:nvPr/>
          </p:nvSpPr>
          <p:spPr>
            <a:xfrm>
              <a:off x="2286000" y="4436715"/>
              <a:ext cx="76200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4325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350" b="1" kern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限制：</a:t>
              </a:r>
              <a:r>
                <a:rPr lang="en-US" sz="1350" kern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預設為二態邏輯 (0/1)，有限度支持 X/Z 態。</a:t>
              </a: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193;p20">
              <a:extLst>
                <a:ext uri="{FF2B5EF4-FFF2-40B4-BE49-F238E27FC236}">
                  <a16:creationId xmlns:a16="http://schemas.microsoft.com/office/drawing/2014/main" id="{D7C53D60-8381-1B7C-730C-97C826AD3E56}"/>
                </a:ext>
              </a:extLst>
            </p:cNvPr>
            <p:cNvSpPr/>
            <p:nvPr/>
          </p:nvSpPr>
          <p:spPr>
            <a:xfrm>
              <a:off x="2286000" y="3145184"/>
              <a:ext cx="7620000" cy="9525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kern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94;p20">
              <a:extLst>
                <a:ext uri="{FF2B5EF4-FFF2-40B4-BE49-F238E27FC236}">
                  <a16:creationId xmlns:a16="http://schemas.microsoft.com/office/drawing/2014/main" id="{4A418502-DA0B-2155-5521-D843E50B82EC}"/>
                </a:ext>
              </a:extLst>
            </p:cNvPr>
            <p:cNvSpPr/>
            <p:nvPr/>
          </p:nvSpPr>
          <p:spPr>
            <a:xfrm>
              <a:off x="2286000" y="3714750"/>
              <a:ext cx="7620000" cy="9525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kern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95;p20">
              <a:extLst>
                <a:ext uri="{FF2B5EF4-FFF2-40B4-BE49-F238E27FC236}">
                  <a16:creationId xmlns:a16="http://schemas.microsoft.com/office/drawing/2014/main" id="{C0A016B4-22AE-FD8E-EBE0-FFB1F3D5D5B5}"/>
                </a:ext>
              </a:extLst>
            </p:cNvPr>
            <p:cNvSpPr/>
            <p:nvPr/>
          </p:nvSpPr>
          <p:spPr>
            <a:xfrm>
              <a:off x="2286000" y="4284315"/>
              <a:ext cx="7620000" cy="9525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kern="0">
                <a:solidFill>
                  <a:srgbClr val="000000"/>
                </a:solidFill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" name="Google Shape;196;p20" descr="image.png">
              <a:extLst>
                <a:ext uri="{FF2B5EF4-FFF2-40B4-BE49-F238E27FC236}">
                  <a16:creationId xmlns:a16="http://schemas.microsoft.com/office/drawing/2014/main" id="{4EF4C841-E40F-ACCF-EC30-861D1FF51B6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86000" y="2770882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197;p20" descr="image.png">
              <a:extLst>
                <a:ext uri="{FF2B5EF4-FFF2-40B4-BE49-F238E27FC236}">
                  <a16:creationId xmlns:a16="http://schemas.microsoft.com/office/drawing/2014/main" id="{FD9D8E31-9579-A36E-86C2-D9BFFB51056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86000" y="3340447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198;p20" descr="image.png">
              <a:extLst>
                <a:ext uri="{FF2B5EF4-FFF2-40B4-BE49-F238E27FC236}">
                  <a16:creationId xmlns:a16="http://schemas.microsoft.com/office/drawing/2014/main" id="{1FEA6BA0-F710-65E3-EEE5-9F194D1D376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86000" y="3910012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199;p20" descr="image.png">
              <a:extLst>
                <a:ext uri="{FF2B5EF4-FFF2-40B4-BE49-F238E27FC236}">
                  <a16:creationId xmlns:a16="http://schemas.microsoft.com/office/drawing/2014/main" id="{79A4E18F-9CDE-E2E6-D542-3FCFE9AA6083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286000" y="4479577"/>
              <a:ext cx="171450" cy="1809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34026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F56C2F51-6177-042B-EC6B-64EDB27B7DD4}"/>
              </a:ext>
            </a:extLst>
          </p:cNvPr>
          <p:cNvSpPr/>
          <p:nvPr/>
        </p:nvSpPr>
        <p:spPr>
          <a:xfrm>
            <a:off x="502920" y="255960"/>
            <a:ext cx="7863480" cy="591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/>
            <a:r>
              <a:rPr lang="en-US" altLang="zh-TW" sz="3600" b="1" dirty="0">
                <a:solidFill>
                  <a:srgbClr val="183458"/>
                </a:solidFill>
              </a:rPr>
              <a:t>Harness</a:t>
            </a:r>
            <a:r>
              <a:rPr lang="zh-TW" altLang="en-US" sz="3600" b="1" dirty="0">
                <a:solidFill>
                  <a:srgbClr val="183458"/>
                </a:solidFill>
              </a:rPr>
              <a:t> </a:t>
            </a:r>
            <a:r>
              <a:rPr lang="en-US" altLang="zh-TW" sz="3600" b="1" dirty="0">
                <a:solidFill>
                  <a:srgbClr val="183458"/>
                </a:solidFill>
              </a:rPr>
              <a:t>Engineering </a:t>
            </a:r>
            <a:r>
              <a:rPr lang="en-US" sz="3600" b="1" dirty="0" err="1">
                <a:solidFill>
                  <a:srgbClr val="183458"/>
                </a:solidFill>
              </a:rPr>
              <a:t>用AI</a:t>
            </a:r>
            <a:r>
              <a:rPr lang="zh-TW" altLang="en-US" sz="3600" b="1" dirty="0">
                <a:solidFill>
                  <a:srgbClr val="183458"/>
                </a:solidFill>
              </a:rPr>
              <a:t> 幾週的心得</a:t>
            </a:r>
            <a:endParaRPr lang="en-US" sz="3600" b="1" dirty="0">
              <a:solidFill>
                <a:srgbClr val="183458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AFCC154-9A09-8147-8CAA-41881C7933D0}"/>
              </a:ext>
            </a:extLst>
          </p:cNvPr>
          <p:cNvSpPr/>
          <p:nvPr/>
        </p:nvSpPr>
        <p:spPr>
          <a:xfrm>
            <a:off x="502920" y="1024200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3A18A-F92B-2793-CD1C-D8884E2415BE}"/>
              </a:ext>
            </a:extLst>
          </p:cNvPr>
          <p:cNvSpPr/>
          <p:nvPr/>
        </p:nvSpPr>
        <p:spPr>
          <a:xfrm>
            <a:off x="764384" y="1228364"/>
            <a:ext cx="10317415" cy="45306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720" tIns="18360" rIns="36720" bIns="1836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目前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Codex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&gt;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Claude Code &gt; Gemini</a:t>
            </a: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DLA7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Project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：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10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美元  玩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4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小時 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100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美元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3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天 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200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美元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5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天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AI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是一位很厲害的同仁 看完目前全世界的書 及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Paper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AI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很博學 會教你不會的知識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生成 讀書報告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(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未來新人訓練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我是剛新進公司的員工</a:t>
            </a:r>
            <a:r>
              <a:rPr lang="en-US" altLang="zh-TW" sz="1600" dirty="0"/>
              <a:t> </a:t>
            </a:r>
            <a:r>
              <a:rPr lang="zh-TW" altLang="en-US" sz="1600" dirty="0"/>
              <a:t>想從基礎學習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請幫我看文件及</a:t>
            </a:r>
            <a:r>
              <a:rPr lang="en-US" altLang="zh-TW" sz="1600" dirty="0"/>
              <a:t>Code</a:t>
            </a:r>
            <a:r>
              <a:rPr lang="zh-TW" altLang="en-US" sz="1600" dirty="0"/>
              <a:t> 有系統寫下</a:t>
            </a:r>
            <a:r>
              <a:rPr lang="en-US" altLang="zh-TW" sz="1600" dirty="0"/>
              <a:t>150</a:t>
            </a:r>
            <a:r>
              <a:rPr lang="zh-TW" altLang="en-US" sz="1600" dirty="0"/>
              <a:t>頁 讀書筆記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AI 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不會幫你設計架構 但它會逼你把每個設計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decision 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講清楚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zh-TW" altLang="en-US" sz="1600" dirty="0"/>
              <a:t>你也可以問一般業界怎麼做 把問答題變成選擇題 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AI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會偷懶 要先想好很嚴謹的驗收條件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  <a:p>
            <a:pPr marL="800280" lvl="1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zh-TW" altLang="en-US" sz="1600" dirty="0"/>
              <a:t>找 </a:t>
            </a:r>
            <a:r>
              <a:rPr lang="en-US" altLang="zh-TW" sz="1600" dirty="0"/>
              <a:t>ETHZ</a:t>
            </a:r>
            <a:r>
              <a:rPr lang="zh-TW" altLang="en-US" sz="1600" dirty="0"/>
              <a:t> </a:t>
            </a:r>
            <a:r>
              <a:rPr lang="en-US" altLang="zh-TW" sz="1600" dirty="0"/>
              <a:t>Pattern</a:t>
            </a:r>
            <a:r>
              <a:rPr lang="zh-TW" altLang="en-US" sz="1600" dirty="0"/>
              <a:t> </a:t>
            </a:r>
            <a:r>
              <a:rPr lang="en-US" altLang="zh-TW" sz="1600" dirty="0"/>
              <a:t>E2E Evaluation</a:t>
            </a:r>
          </a:p>
          <a:p>
            <a:pPr marL="800280" lvl="1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zh-TW" altLang="en-US" sz="1600" dirty="0"/>
              <a:t>用別的 </a:t>
            </a:r>
            <a:r>
              <a:rPr lang="en-US" altLang="zh-TW" sz="1600" dirty="0"/>
              <a:t>TOOL</a:t>
            </a:r>
            <a:r>
              <a:rPr lang="zh-TW" altLang="en-US" sz="1600" dirty="0"/>
              <a:t> 來驗證它 </a:t>
            </a:r>
            <a:r>
              <a:rPr lang="en-US" altLang="zh-TW" sz="1600" dirty="0"/>
              <a:t>(</a:t>
            </a:r>
            <a:r>
              <a:rPr lang="en-US" altLang="zh-TW" sz="1600" dirty="0" err="1"/>
              <a:t>eg.</a:t>
            </a:r>
            <a:r>
              <a:rPr lang="en-US" altLang="zh-TW" sz="1600" dirty="0"/>
              <a:t> Verilog Simulator + Correlation)</a:t>
            </a: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000" b="1" dirty="0">
                <a:solidFill>
                  <a:srgbClr val="183458"/>
                </a:solidFill>
              </a:rPr>
              <a:t>Top-down</a:t>
            </a:r>
            <a:r>
              <a:rPr lang="zh-TW" altLang="en-US" sz="2000" b="1" dirty="0">
                <a:solidFill>
                  <a:srgbClr val="183458"/>
                </a:solidFill>
              </a:rPr>
              <a:t> </a:t>
            </a:r>
            <a:r>
              <a:rPr lang="en-US" altLang="zh-TW" sz="2000" b="1" dirty="0">
                <a:solidFill>
                  <a:srgbClr val="183458"/>
                </a:solidFill>
              </a:rPr>
              <a:t>Design </a:t>
            </a:r>
            <a:r>
              <a:rPr lang="zh-TW" altLang="en-US" sz="2000" b="1" dirty="0">
                <a:solidFill>
                  <a:srgbClr val="183458"/>
                </a:solidFill>
              </a:rPr>
              <a:t>比 </a:t>
            </a:r>
            <a:r>
              <a:rPr lang="en-US" altLang="zh-TW" sz="2000" b="1" dirty="0">
                <a:solidFill>
                  <a:srgbClr val="183458"/>
                </a:solidFill>
              </a:rPr>
              <a:t>Bottom-up </a:t>
            </a:r>
            <a:r>
              <a:rPr lang="zh-TW" altLang="en-US" sz="2000" b="1" dirty="0">
                <a:solidFill>
                  <a:srgbClr val="183458"/>
                </a:solidFill>
              </a:rPr>
              <a:t>好溝通 </a:t>
            </a:r>
            <a:endParaRPr lang="en-US" altLang="zh-TW" sz="2000" b="1" dirty="0">
              <a:solidFill>
                <a:srgbClr val="183458"/>
              </a:solidFill>
            </a:endParaRPr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altLang="zh-TW" sz="1600" dirty="0"/>
              <a:t>Context</a:t>
            </a:r>
            <a:r>
              <a:rPr lang="zh-TW" altLang="en-US" sz="1600" dirty="0"/>
              <a:t> </a:t>
            </a:r>
            <a:r>
              <a:rPr lang="en-US" altLang="zh-TW" sz="1600" dirty="0"/>
              <a:t>Window</a:t>
            </a:r>
            <a:r>
              <a:rPr lang="zh-TW" altLang="en-US" sz="1600" dirty="0"/>
              <a:t> 有限 </a:t>
            </a:r>
            <a:r>
              <a:rPr lang="en-US" altLang="zh-TW" sz="1600" dirty="0"/>
              <a:t>Compact</a:t>
            </a:r>
            <a:r>
              <a:rPr lang="zh-TW" altLang="en-US" sz="1600" dirty="0"/>
              <a:t>之後就會忘了前面  重要事情還是一直要提醒 </a:t>
            </a:r>
            <a:endParaRPr lang="en-US" altLang="zh-TW" sz="1600" dirty="0"/>
          </a:p>
          <a:p>
            <a:pPr marL="800280" lvl="1" indent="-34308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altLang="zh-TW" sz="1600" dirty="0"/>
              <a:t>Tod-down Design</a:t>
            </a:r>
            <a:r>
              <a:rPr lang="zh-TW" altLang="en-US" sz="1600" dirty="0"/>
              <a:t> 真的不用看 </a:t>
            </a:r>
            <a:r>
              <a:rPr lang="en-US" altLang="zh-TW" sz="1600" dirty="0"/>
              <a:t>Code</a:t>
            </a: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關機要寫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Handoff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to </a:t>
            </a:r>
            <a:r>
              <a:rPr lang="en-US" altLang="zh-TW" sz="2000" b="1" dirty="0" err="1">
                <a:solidFill>
                  <a:srgbClr val="183458"/>
                </a:solidFill>
                <a:latin typeface="Calibri"/>
              </a:rPr>
              <a:t>Handoff.md</a:t>
            </a:r>
            <a:r>
              <a:rPr lang="en-US" altLang="zh-TW" sz="2000" b="1" dirty="0">
                <a:solidFill>
                  <a:srgbClr val="183458"/>
                </a:solidFill>
                <a:latin typeface="Calibri"/>
              </a:rPr>
              <a:t> </a:t>
            </a: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隔天開工先讀它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zh-TW" altLang="en-US" sz="2000" b="1" dirty="0">
                <a:solidFill>
                  <a:srgbClr val="183458"/>
                </a:solidFill>
                <a:latin typeface="Calibri"/>
              </a:rPr>
              <a:t>對它客氣一點 不要爆粗口 這樣容易它選不好的回應來回答你問題</a:t>
            </a:r>
            <a:endParaRPr lang="en-US" altLang="zh-TW" sz="2000" b="1" dirty="0">
              <a:solidFill>
                <a:srgbClr val="18345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1181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C43B-C523-3C1B-9E62-23BF47C2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5">
            <a:extLst>
              <a:ext uri="{FF2B5EF4-FFF2-40B4-BE49-F238E27FC236}">
                <a16:creationId xmlns:a16="http://schemas.microsoft.com/office/drawing/2014/main" id="{DB8307D0-42BB-C022-70C7-609CCE38C6D9}"/>
              </a:ext>
            </a:extLst>
          </p:cNvPr>
          <p:cNvSpPr/>
          <p:nvPr/>
        </p:nvSpPr>
        <p:spPr>
          <a:xfrm>
            <a:off x="901020" y="1404348"/>
            <a:ext cx="10389960" cy="50230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3600" b="1" dirty="0">
                <a:solidFill>
                  <a:srgbClr val="183458"/>
                </a:solidFill>
                <a:latin typeface="Arial"/>
              </a:rPr>
              <a:t> </a:t>
            </a:r>
            <a:r>
              <a:rPr lang="en-US" altLang="zh-TW" sz="2800" b="1" dirty="0">
                <a:solidFill>
                  <a:srgbClr val="183458"/>
                </a:solidFill>
                <a:latin typeface="Arial"/>
              </a:rPr>
              <a:t>MDLA7 1-Core System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0070C0"/>
                </a:solidFill>
                <a:latin typeface="Arial"/>
              </a:rPr>
              <a:t>L1Mesh Design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0070C0"/>
                </a:solidFill>
                <a:latin typeface="Arial"/>
              </a:rPr>
              <a:t>L1Mesh CX Model Approach form Verilog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183458"/>
                </a:solidFill>
                <a:latin typeface="Arial"/>
              </a:rPr>
              <a:t>Fine Tune Compile for Fast/CX Model</a:t>
            </a:r>
          </a:p>
          <a:p>
            <a:pPr marL="914400" lvl="1" indent="-457200" defTabSz="457200">
              <a:buClr>
                <a:srgbClr val="183458"/>
              </a:buClr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183458"/>
                </a:solidFill>
                <a:latin typeface="Arial"/>
              </a:rPr>
              <a:t>CX/Verilog Correlation</a:t>
            </a: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endParaRPr lang="en-US" altLang="zh-TW" sz="3600" b="1" dirty="0">
              <a:solidFill>
                <a:srgbClr val="183458"/>
              </a:solidFill>
              <a:latin typeface="Arial"/>
            </a:endParaRP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800" b="1" dirty="0">
                <a:solidFill>
                  <a:srgbClr val="183458"/>
                </a:solidFill>
                <a:latin typeface="Arial"/>
              </a:rPr>
              <a:t>Find</a:t>
            </a:r>
            <a:r>
              <a:rPr lang="zh-TW" altLang="en-US" sz="2800" b="1" dirty="0">
                <a:solidFill>
                  <a:srgbClr val="183458"/>
                </a:solidFill>
                <a:latin typeface="Arial"/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latin typeface="Arial"/>
              </a:rPr>
              <a:t>gap of FE/IA/CX speed </a:t>
            </a:r>
            <a:r>
              <a:rPr lang="en-US" altLang="zh-TW" sz="2800" b="1" dirty="0">
                <a:solidFill>
                  <a:srgbClr val="183458"/>
                </a:solidFill>
                <a:latin typeface="Arial"/>
              </a:rPr>
              <a:t>with simulator designed </a:t>
            </a:r>
            <a:r>
              <a:rPr lang="en-US" altLang="zh-TW" sz="2800" b="1" dirty="0" err="1">
                <a:solidFill>
                  <a:srgbClr val="183458"/>
                </a:solidFill>
                <a:latin typeface="Arial"/>
              </a:rPr>
              <a:t>byAI</a:t>
            </a:r>
            <a:r>
              <a:rPr lang="en-US" altLang="zh-TW" sz="2800" b="1" dirty="0">
                <a:solidFill>
                  <a:srgbClr val="183458"/>
                </a:solidFill>
                <a:latin typeface="Arial"/>
              </a:rPr>
              <a:t>  </a:t>
            </a: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endParaRPr lang="en-US" altLang="zh-TW" sz="2800" b="1" dirty="0">
              <a:solidFill>
                <a:srgbClr val="183458"/>
              </a:solidFill>
              <a:latin typeface="Arial"/>
            </a:endParaRPr>
          </a:p>
          <a:p>
            <a:pPr marL="343080" indent="-343080" defTabSz="457200">
              <a:buClr>
                <a:srgbClr val="183458"/>
              </a:buClr>
              <a:buFont typeface="Wingdings" charset="2"/>
              <a:buChar char=""/>
            </a:pPr>
            <a:r>
              <a:rPr lang="en-US" altLang="zh-TW" sz="2800" b="1" dirty="0">
                <a:solidFill>
                  <a:srgbClr val="183458"/>
                </a:solidFill>
                <a:latin typeface="Arial"/>
              </a:rPr>
              <a:t>MDLA7 2-Cores System</a:t>
            </a: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endParaRPr lang="en-US" sz="3600" b="1" u="none" strike="noStrike" dirty="0">
              <a:solidFill>
                <a:srgbClr val="183458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183458"/>
              </a:buClr>
              <a:buFont typeface="Wingdings" charset="2"/>
              <a:buChar char=""/>
            </a:pPr>
            <a:r>
              <a:rPr lang="en-US" sz="36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 </a:t>
            </a:r>
            <a:r>
              <a:rPr lang="en-US" sz="2800" b="1" dirty="0">
                <a:solidFill>
                  <a:srgbClr val="183458"/>
                </a:solidFill>
                <a:latin typeface="Arial"/>
              </a:rPr>
              <a:t>MVPU 2.5 System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C616A874-0D5D-454F-EDC3-004B7DD81A59}"/>
              </a:ext>
            </a:extLst>
          </p:cNvPr>
          <p:cNvSpPr/>
          <p:nvPr/>
        </p:nvSpPr>
        <p:spPr>
          <a:xfrm>
            <a:off x="747000" y="180360"/>
            <a:ext cx="7863480" cy="6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000" b="1" u="none" strike="noStrike" dirty="0">
                <a:solidFill>
                  <a:srgbClr val="183458"/>
                </a:solidFill>
                <a:effectLst/>
                <a:uFillTx/>
                <a:latin typeface="Calibri"/>
              </a:rPr>
              <a:t>Next Step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35CD4BE-E020-5CC8-3AC2-DFE2AD3091B6}"/>
              </a:ext>
            </a:extLst>
          </p:cNvPr>
          <p:cNvSpPr/>
          <p:nvPr/>
        </p:nvSpPr>
        <p:spPr>
          <a:xfrm>
            <a:off x="495480" y="861236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5819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3EB85A-644F-E165-581D-4D9EC73A701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59736" y="1115423"/>
            <a:ext cx="4765158" cy="1829796"/>
          </a:xfrm>
        </p:spPr>
        <p:txBody>
          <a:bodyPr>
            <a:normAutofit/>
          </a:bodyPr>
          <a:lstStyle/>
          <a:p>
            <a:r>
              <a:rPr lang="zh-TW" altLang="zh-TW" sz="1050" b="1" dirty="0"/>
              <a:t>MDLA7 profile — bmm_softmax_bmm_2.5ms_1g_int8.tflite (fast)</a:t>
            </a:r>
          </a:p>
          <a:p>
            <a:r>
              <a:rPr lang="zh-TW" altLang="zh-TW" sz="1050" b="1" dirty="0"/>
              <a:t>Model:</a:t>
            </a:r>
            <a:r>
              <a:rPr lang="zh-TW" altLang="zh-TW" sz="1050" dirty="0"/>
              <a:t> model/BMM/bmm_softmax_bmm_2.5ms_1g_int8.tflite</a:t>
            </a:r>
            <a:endParaRPr lang="en-US" altLang="zh-TW" sz="1050" dirty="0"/>
          </a:p>
          <a:p>
            <a:r>
              <a:rPr lang="zh-TW" altLang="zh-TW" sz="1050" b="1" dirty="0"/>
              <a:t>Compiled layers:</a:t>
            </a:r>
            <a:r>
              <a:rPr lang="zh-TW" altLang="zh-TW" sz="1050" dirty="0"/>
              <a:t> 65 (PASS 63 / FAIL 2)</a:t>
            </a:r>
            <a:endParaRPr lang="en-US" altLang="zh-TW" sz="1050" dirty="0"/>
          </a:p>
          <a:p>
            <a:r>
              <a:rPr lang="zh-TW" altLang="zh-TW" sz="1050" b="1" dirty="0"/>
              <a:t>Graph coverage:</a:t>
            </a:r>
            <a:r>
              <a:rPr lang="zh-TW" altLang="zh-TW" sz="1050" dirty="0"/>
              <a:t> complete — 0/65 compile rows skipped</a:t>
            </a:r>
            <a:endParaRPr lang="en-US" altLang="zh-TW" sz="1050" dirty="0"/>
          </a:p>
          <a:p>
            <a:r>
              <a:rPr lang="zh-TW" altLang="zh-TW" sz="1050" b="1" dirty="0"/>
              <a:t>Verification:</a:t>
            </a:r>
            <a:r>
              <a:rPr lang="zh-TW" altLang="zh-TW" sz="1050" dirty="0"/>
              <a:t> per compiled-layer DRAM reference compare, including the final compiled layer; no separate original-TFLite final-output checker</a:t>
            </a:r>
            <a:endParaRPr lang="en-US" altLang="zh-TW" sz="1050" dirty="0"/>
          </a:p>
          <a:p>
            <a:r>
              <a:rPr lang="zh-TW" altLang="zh-TW" sz="1050" b="1" dirty="0"/>
              <a:t>Sim time:</a:t>
            </a:r>
            <a:r>
              <a:rPr lang="zh-TW" altLang="zh-TW" sz="1050" dirty="0"/>
              <a:t> 5.749 ms @ 1.9 GHz (10,923,659 cycles)</a:t>
            </a:r>
            <a:endParaRPr lang="en-US" altLang="zh-TW" sz="1050" dirty="0"/>
          </a:p>
          <a:p>
            <a:r>
              <a:rPr lang="zh-TW" altLang="zh-TW" sz="1050" b="1" dirty="0"/>
              <a:t>Util:</a:t>
            </a:r>
            <a:r>
              <a:rPr lang="zh-TW" altLang="zh-TW" sz="1050" dirty="0"/>
              <a:t> avg 24.4% / peak 55.4% (udma_w)</a:t>
            </a:r>
            <a:endParaRPr lang="en-US" altLang="zh-TW" sz="1050" dirty="0"/>
          </a:p>
          <a:p>
            <a:r>
              <a:rPr lang="zh-TW" altLang="zh-TW" sz="1050" b="1" dirty="0"/>
              <a:t>DRAM r/w:</a:t>
            </a:r>
            <a:r>
              <a:rPr lang="zh-TW" altLang="zh-TW" sz="1050" dirty="0"/>
              <a:t> 142.58 / 276.82 MB</a:t>
            </a:r>
            <a:endParaRPr lang="en-US" altLang="zh-TW" sz="1050" dirty="0"/>
          </a:p>
          <a:p>
            <a:r>
              <a:rPr lang="zh-TW" altLang="zh-TW" sz="1050" b="1" dirty="0"/>
              <a:t>SRAM r/w:</a:t>
            </a:r>
            <a:r>
              <a:rPr lang="zh-TW" altLang="zh-TW" sz="1050" dirty="0"/>
              <a:t> 672.29 / 579.44 MB</a:t>
            </a:r>
          </a:p>
          <a:p>
            <a:endParaRPr kumimoji="1" lang="zh-TW" altLang="en-US" sz="105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86EDF1-5FDA-9C0B-9BFB-9AA773573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53" y="2351327"/>
            <a:ext cx="7772400" cy="4077530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CADD0CD7-53CD-4B28-976C-745C8EF1CF92}"/>
              </a:ext>
            </a:extLst>
          </p:cNvPr>
          <p:cNvSpPr/>
          <p:nvPr/>
        </p:nvSpPr>
        <p:spPr>
          <a:xfrm>
            <a:off x="747000" y="180360"/>
            <a:ext cx="7863480" cy="6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000" b="1" dirty="0">
                <a:solidFill>
                  <a:srgbClr val="183458"/>
                </a:solidFill>
                <a:latin typeface="Calibri"/>
              </a:rPr>
              <a:t>BMM-</a:t>
            </a:r>
            <a:r>
              <a:rPr lang="en-US" sz="4000" b="1" dirty="0" err="1">
                <a:solidFill>
                  <a:srgbClr val="183458"/>
                </a:solidFill>
                <a:latin typeface="Calibri"/>
              </a:rPr>
              <a:t>Softmax</a:t>
            </a:r>
            <a:r>
              <a:rPr lang="en-US" sz="4000" b="1" dirty="0">
                <a:solidFill>
                  <a:srgbClr val="183458"/>
                </a:solidFill>
                <a:latin typeface="Calibri"/>
              </a:rPr>
              <a:t>-BMM </a:t>
            </a:r>
            <a:r>
              <a:rPr lang="en-US" sz="4000" b="1" dirty="0" err="1">
                <a:solidFill>
                  <a:srgbClr val="183458"/>
                </a:solidFill>
                <a:latin typeface="Calibri"/>
              </a:rPr>
              <a:t>第一版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2BBC1C9-8392-7116-B0C1-1BF64D33C241}"/>
              </a:ext>
            </a:extLst>
          </p:cNvPr>
          <p:cNvSpPr/>
          <p:nvPr/>
        </p:nvSpPr>
        <p:spPr>
          <a:xfrm>
            <a:off x="495480" y="861236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0661994-4311-89B3-4258-54359F100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47" y="3172406"/>
            <a:ext cx="2998766" cy="310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76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A066-1F48-B107-A569-F54AC955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98DCE16D-9BD9-5075-B812-01712550B96B}"/>
              </a:ext>
            </a:extLst>
          </p:cNvPr>
          <p:cNvSpPr/>
          <p:nvPr/>
        </p:nvSpPr>
        <p:spPr>
          <a:xfrm>
            <a:off x="747000" y="180360"/>
            <a:ext cx="7863480" cy="65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000" b="1" dirty="0">
                <a:solidFill>
                  <a:srgbClr val="183458"/>
                </a:solidFill>
                <a:latin typeface="Calibri"/>
              </a:rPr>
              <a:t>BMM-</a:t>
            </a:r>
            <a:r>
              <a:rPr lang="en-US" sz="4000" b="1" dirty="0" err="1">
                <a:solidFill>
                  <a:srgbClr val="183458"/>
                </a:solidFill>
                <a:latin typeface="Calibri"/>
              </a:rPr>
              <a:t>Softmax</a:t>
            </a:r>
            <a:r>
              <a:rPr lang="en-US" sz="4000" b="1" dirty="0">
                <a:solidFill>
                  <a:srgbClr val="183458"/>
                </a:solidFill>
                <a:latin typeface="Calibri"/>
              </a:rPr>
              <a:t>-BMM </a:t>
            </a:r>
            <a:r>
              <a:rPr lang="en-US" sz="4000" b="1" dirty="0" err="1">
                <a:solidFill>
                  <a:srgbClr val="183458"/>
                </a:solidFill>
                <a:latin typeface="Calibri"/>
              </a:rPr>
              <a:t>第二版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AD8E5B3-1484-137E-5E71-EC2E4738A6BC}"/>
              </a:ext>
            </a:extLst>
          </p:cNvPr>
          <p:cNvSpPr/>
          <p:nvPr/>
        </p:nvSpPr>
        <p:spPr>
          <a:xfrm>
            <a:off x="495480" y="861236"/>
            <a:ext cx="11201040" cy="27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3680" rIns="36720" bIns="136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FAF322-7DF7-DF51-679E-FA2DE071E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709" y="4000273"/>
            <a:ext cx="5766723" cy="262336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5DF8586-79C0-A1C5-D46C-357F8544D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710" y="1160810"/>
            <a:ext cx="5477540" cy="2486954"/>
          </a:xfrm>
          <a:prstGeom prst="rect">
            <a:avLst/>
          </a:prstGeom>
        </p:spPr>
      </p:pic>
      <p:sp>
        <p:nvSpPr>
          <p:cNvPr id="10" name="文字版面配置區 2">
            <a:extLst>
              <a:ext uri="{FF2B5EF4-FFF2-40B4-BE49-F238E27FC236}">
                <a16:creationId xmlns:a16="http://schemas.microsoft.com/office/drawing/2014/main" id="{F361E482-B512-972B-382F-A455286F872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3531" y="1147320"/>
            <a:ext cx="4765158" cy="3055764"/>
          </a:xfrm>
        </p:spPr>
        <p:txBody>
          <a:bodyPr>
            <a:normAutofit/>
          </a:bodyPr>
          <a:lstStyle/>
          <a:p>
            <a:r>
              <a:rPr lang="zh-TW" altLang="zh-TW" sz="1100" b="1" dirty="0"/>
              <a:t>MDLA7 profile — bmm_softmax_bmm_tiled_2.5ms_int8.tflite (fast)</a:t>
            </a:r>
          </a:p>
          <a:p>
            <a:r>
              <a:rPr lang="zh-TW" altLang="zh-TW" sz="1100" b="1" dirty="0"/>
              <a:t>Model:</a:t>
            </a:r>
            <a:r>
              <a:rPr lang="zh-TW" altLang="zh-TW" sz="1100" dirty="0"/>
              <a:t> model/BMM/bmm_softmax_bmm_tiled_2.5ms_int8.tflite</a:t>
            </a:r>
            <a:endParaRPr lang="en-US" altLang="zh-TW" sz="1100" dirty="0"/>
          </a:p>
          <a:p>
            <a:r>
              <a:rPr lang="zh-TW" altLang="zh-TW" sz="1100" b="1" dirty="0"/>
              <a:t>Compiled layers:</a:t>
            </a:r>
            <a:r>
              <a:rPr lang="zh-TW" altLang="zh-TW" sz="1100" dirty="0"/>
              <a:t> 1358 (PASS 1358 / FAIL 0)</a:t>
            </a:r>
            <a:endParaRPr lang="en-US" altLang="zh-TW" sz="1100" dirty="0"/>
          </a:p>
          <a:p>
            <a:r>
              <a:rPr lang="zh-TW" altLang="zh-TW" sz="1100" b="1" dirty="0"/>
              <a:t>Graph coverage: INCOMPLETE — 1/1359 compile rows skipped; simulator PASS covers compiled layers only</a:t>
            </a:r>
            <a:endParaRPr lang="en-US" altLang="zh-TW" sz="1100" b="1" dirty="0"/>
          </a:p>
          <a:p>
            <a:r>
              <a:rPr lang="zh-TW" altLang="zh-TW" sz="1100" b="1" dirty="0"/>
              <a:t>Verification:</a:t>
            </a:r>
            <a:r>
              <a:rPr lang="zh-TW" altLang="zh-TW" sz="1100" dirty="0"/>
              <a:t> per compiled-layer DRAM reference compare, including the final compiled layer; no separate original-TFLite final-output checker</a:t>
            </a:r>
            <a:endParaRPr lang="en-US" altLang="zh-TW" sz="1100" dirty="0"/>
          </a:p>
          <a:p>
            <a:r>
              <a:rPr lang="zh-TW" altLang="zh-TW" sz="1100" b="1" dirty="0"/>
              <a:t>Sim time:</a:t>
            </a:r>
            <a:r>
              <a:rPr lang="zh-TW" altLang="zh-TW" sz="1100" dirty="0"/>
              <a:t> 11.184 ms @ 1.9 GHz (21,249,675 cycles)</a:t>
            </a:r>
            <a:endParaRPr lang="en-US" altLang="zh-TW" sz="1100" dirty="0"/>
          </a:p>
          <a:p>
            <a:r>
              <a:rPr lang="zh-TW" altLang="zh-TW" sz="1100" b="1" dirty="0"/>
              <a:t>Util:</a:t>
            </a:r>
            <a:r>
              <a:rPr lang="zh-TW" altLang="zh-TW" sz="1100" dirty="0"/>
              <a:t> avg 14.0% / peak 62.1% (ewe)</a:t>
            </a:r>
            <a:endParaRPr lang="en-US" altLang="zh-TW" sz="1100" dirty="0"/>
          </a:p>
          <a:p>
            <a:r>
              <a:rPr lang="zh-TW" altLang="zh-TW" sz="1100" b="1" dirty="0"/>
              <a:t>DRAM r/w:</a:t>
            </a:r>
            <a:r>
              <a:rPr lang="zh-TW" altLang="zh-TW" sz="1100" dirty="0"/>
              <a:t> 161.30 / 0.00 MB</a:t>
            </a:r>
            <a:endParaRPr lang="en-US" altLang="zh-TW" sz="1100" dirty="0"/>
          </a:p>
          <a:p>
            <a:r>
              <a:rPr lang="zh-TW" altLang="zh-TW" sz="1100" b="1" dirty="0"/>
              <a:t>SRAM r/w:</a:t>
            </a:r>
            <a:r>
              <a:rPr lang="zh-TW" altLang="zh-TW" sz="1100" dirty="0"/>
              <a:t> 185.57 / 301.56 MB</a:t>
            </a:r>
          </a:p>
          <a:p>
            <a:endParaRPr kumimoji="1" lang="zh-TW" altLang="en-US" sz="1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A5232E7-29ED-7571-425F-84E4E6C13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582" y="4000273"/>
            <a:ext cx="3271610" cy="248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05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題">
  <a:themeElements>
    <a:clrScheme name="Office 2013 - 2022 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題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3373</TotalTime>
  <Words>1553</Words>
  <Application>Microsoft Macintosh PowerPoint</Application>
  <PresentationFormat>寬螢幕</PresentationFormat>
  <Paragraphs>307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Inter</vt:lpstr>
      <vt:lpstr>Aptos</vt:lpstr>
      <vt:lpstr>Arial</vt:lpstr>
      <vt:lpstr>Calibri</vt:lpstr>
      <vt:lpstr>Calibri Light</vt:lpstr>
      <vt:lpstr>Helvetica Neue</vt:lpstr>
      <vt:lpstr>Menlo</vt:lpstr>
      <vt:lpstr>Symbol</vt:lpstr>
      <vt:lpstr>Times New Roman</vt:lpstr>
      <vt:lpstr>Wingdings</vt:lpstr>
      <vt:lpstr>Office 2013 - 2022 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MDLA7 uArchSim Regression Table </vt:lpstr>
      <vt:lpstr>PowerPoint 簡報</vt:lpstr>
      <vt:lpstr>PowerPoint 簡報</vt:lpstr>
      <vt:lpstr>L1Mesh Evaluation (v0.1 version)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xyz1106</cp:lastModifiedBy>
  <cp:revision>69</cp:revision>
  <dcterms:created xsi:type="dcterms:W3CDTF">2013-01-27T09:14:16Z</dcterms:created>
  <dcterms:modified xsi:type="dcterms:W3CDTF">2026-05-14T22:29:13Z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寬螢幕</vt:lpwstr>
  </property>
  <property fmtid="{D5CDD505-2E9C-101B-9397-08002B2CF9AE}" pid="3" name="Slides">
    <vt:i4>9</vt:i4>
  </property>
</Properties>
</file>