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8" r:id="rId7"/>
    <p:sldId id="260" r:id="rId8"/>
    <p:sldId id="267" r:id="rId9"/>
    <p:sldId id="261" r:id="rId10"/>
    <p:sldId id="262" r:id="rId11"/>
    <p:sldId id="263" r:id="rId12"/>
    <p:sldId id="264" r:id="rId13"/>
    <p:sldId id="269" r:id="rId14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6"/>
    <p:restoredTop sz="94720"/>
  </p:normalViewPr>
  <p:slideViewPr>
    <p:cSldViewPr snapToGrid="0">
      <p:cViewPr varScale="1">
        <p:scale>
          <a:sx n="111" d="100"/>
          <a:sy n="111" d="100"/>
        </p:scale>
        <p:origin x="248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49615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 and Test Framework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:  Block Diagram (</a:t>
            </a:r>
            <a:r>
              <a:rPr lang="en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and Throughout Table (md)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 :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1 Week (WY)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3 Weeks (PJ)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Output : E2E Function/</a:t>
            </a:r>
            <a:r>
              <a:rPr lang="en-US" sz="20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Peformance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Verification  (.</a:t>
            </a:r>
            <a:r>
              <a:rPr lang="en-US" sz="20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tflit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Compiler 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0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SystemC</a:t>
            </a: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Tensorflow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Lite Parser, Slicing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Compiler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Function &amp; TLM C-model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SystemC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Profile (html), Probe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cvs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), Waveform (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vcd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Verification Batch Tool (Python)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Document (md, pdf, </a:t>
            </a:r>
            <a:r>
              <a:rPr lang="en-US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drawio</a:t>
            </a:r>
            <a:r>
              <a:rPr lang="en-US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 </a:t>
            </a:r>
            <a:r>
              <a:rPr lang="en-US" altLang="zh-TW" sz="2000" b="1" dirty="0">
                <a:solidFill>
                  <a:srgbClr val="183458"/>
                </a:solidFill>
              </a:rPr>
              <a:t>Methodology</a:t>
            </a:r>
            <a:endParaRPr lang="en-US" sz="20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</a:rPr>
              <a:t>To-do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b="1" dirty="0">
                <a:solidFill>
                  <a:srgbClr val="183458"/>
                </a:solidFill>
              </a:rPr>
              <a:t>Gap to Synthesizable RTL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b="1" dirty="0">
                <a:solidFill>
                  <a:srgbClr val="183458"/>
                </a:solidFill>
                <a:latin typeface="Arial"/>
              </a:rPr>
              <a:t>MDLA 2 Cores System</a:t>
            </a:r>
            <a:endParaRPr lang="en-US" altLang="zh-TW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Execution Summary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/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/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/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/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/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/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/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/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/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/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/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/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/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/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/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/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/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/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/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/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/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/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/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/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/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/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/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/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/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/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/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/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/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/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/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/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/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/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/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/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/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/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/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/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/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/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/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/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/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/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/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/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/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70F154A5-F2A1-7B19-F0F8-9F2D83129B0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4E4CD78-6079-C9A5-1D10-426936B3DA25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MAC/cyc; 62.3 TOPS @1.9GHz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LPDDR model peak ≈85.3 GB/s external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3423" y="4093785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Strategy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783504"/>
              </p:ext>
            </p:extLst>
          </p:nvPr>
        </p:nvGraphicFramePr>
        <p:xfrm>
          <a:off x="244457" y="1404666"/>
          <a:ext cx="11358284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2406324">
                  <a:extLst>
                    <a:ext uri="{9D8B030D-6E8A-4147-A177-3AD203B41FA5}">
                      <a16:colId xmlns:a16="http://schemas.microsoft.com/office/drawing/2014/main" val="2648093411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Status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大多已實作</a:t>
                      </a:r>
                      <a:endParaRPr lang="zh-TW" altLang="en-US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1214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已實作，部分已泛化</a:t>
                      </a:r>
                      <a:endParaRPr lang="zh-TW" altLang="en-US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691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Partial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455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Partial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198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udma_r/udma_w preload/store participates in pipeline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Done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161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Done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125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627250" y="5464468"/>
            <a:ext cx="11358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Scan</a:t>
            </a:r>
            <a:r>
              <a:rPr kumimoji="1" lang="zh-TW" altLang="en-US" dirty="0"/>
              <a:t> </a:t>
            </a:r>
            <a:r>
              <a:rPr kumimoji="1" lang="en-US" altLang="zh-TW" dirty="0"/>
              <a:t>ETHZ_v6 Patterns</a:t>
            </a:r>
            <a:r>
              <a:rPr kumimoji="1" lang="zh-TW" altLang="en-US" dirty="0"/>
              <a:t> </a:t>
            </a:r>
            <a:r>
              <a:rPr kumimoji="1" lang="en-US" altLang="zh-TW" dirty="0"/>
              <a:t>to generate </a:t>
            </a:r>
            <a:r>
              <a:rPr kumimoji="1" lang="en-US" altLang="zh-TW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Path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Slice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dirty="0"/>
              <a:t>by AI for function coverage and easy debugging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MDLA7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850685" y="1617261"/>
            <a:ext cx="10632754" cy="34841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en-US" altLang="zh-TW" sz="2800" b="1" dirty="0">
                <a:solidFill>
                  <a:srgbClr val="183458"/>
                </a:solidFill>
              </a:rPr>
              <a:t>(1 week including compiler tuning)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Precise Level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Engine : Throughput TLM/ </a:t>
            </a:r>
            <a:r>
              <a:rPr lang="en-US" sz="2800" b="1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Pipeline/Synthesize </a:t>
            </a:r>
            <a:r>
              <a:rPr lang="en-US" sz="2800" b="1" dirty="0" err="1">
                <a:solidFill>
                  <a:schemeClr val="bg1">
                    <a:lumMod val="65000"/>
                  </a:schemeClr>
                </a:solidFill>
                <a:latin typeface="Calibri"/>
              </a:rPr>
              <a:t>SystemC</a:t>
            </a:r>
            <a:endParaRPr lang="en-US" sz="2800" b="1" u="none" strike="noStrike" dirty="0">
              <a:solidFill>
                <a:schemeClr val="bg1">
                  <a:lumMod val="65000"/>
                </a:schemeClr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 : (L1Mesh) Fast/SRAM Port Conflict/Mesh </a:t>
            </a: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DRAM : BW/</a:t>
            </a:r>
            <a:r>
              <a:rPr lang="en-US" sz="2800" b="1" dirty="0" err="1">
                <a:solidFill>
                  <a:schemeClr val="bg1">
                    <a:lumMod val="65000"/>
                  </a:schemeClr>
                </a:solidFill>
                <a:latin typeface="Calibri"/>
              </a:rPr>
              <a:t>uSEDA</a:t>
            </a:r>
            <a:endParaRPr lang="en-US" sz="2800" b="0" u="none" strike="noStrike" dirty="0">
              <a:solidFill>
                <a:schemeClr val="bg1">
                  <a:lumMod val="6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2Mesh4x4 mapping to same 16*Quad </a:t>
            </a:r>
            <a:r>
              <a:rPr lang="en-US" sz="24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SrAM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1964520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1610280" y="1229040"/>
            <a:ext cx="8986320" cy="54539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32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8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8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8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2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8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DRAM_W 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都拿來最佳化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unet_int16.tflite L7-L10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可以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Fuse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起來嗎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yolo_v8_float.tflite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L80-L86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可以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Overlap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起來嗎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找出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pool/ewe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前後有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CONV 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沒有 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Overlap</a:t>
            </a:r>
            <a:r>
              <a:rPr lang="zh-TW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找出來</a:t>
            </a:r>
            <a:endParaRPr lang="en-US" altLang="zh-TW" sz="18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" altLang="zh-TW" b="1" dirty="0" err="1">
                <a:solidFill>
                  <a:schemeClr val="dk1"/>
                </a:solidFill>
                <a:latin typeface="Calibri"/>
              </a:rPr>
              <a:t>xlsr_quant.tflite</a:t>
            </a:r>
            <a:r>
              <a:rPr lang="en" altLang="zh-TW" b="1" dirty="0">
                <a:solidFill>
                  <a:schemeClr val="dk1"/>
                </a:solidFill>
                <a:latin typeface="Calibri"/>
              </a:rPr>
              <a:t> profile </a:t>
            </a:r>
            <a:r>
              <a:rPr lang="zh-TW" altLang="en-US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" altLang="zh-TW" b="1" dirty="0">
                <a:solidFill>
                  <a:schemeClr val="dk1"/>
                </a:solidFill>
                <a:latin typeface="Calibri"/>
              </a:rPr>
              <a:t>L6 Conv </a:t>
            </a:r>
            <a:r>
              <a:rPr lang="en" altLang="zh-TW" b="1" dirty="0" err="1">
                <a:solidFill>
                  <a:schemeClr val="dk1"/>
                </a:solidFill>
                <a:latin typeface="Calibri"/>
              </a:rPr>
              <a:t>Micorbook</a:t>
            </a:r>
            <a:r>
              <a:rPr lang="en" altLang="zh-TW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zh-TW" altLang="en-US" b="1" dirty="0">
                <a:solidFill>
                  <a:schemeClr val="dk1"/>
                </a:solidFill>
                <a:latin typeface="Calibri"/>
              </a:rPr>
              <a:t>之間 還有 </a:t>
            </a:r>
            <a:r>
              <a:rPr lang="en" altLang="zh-TW" b="1" dirty="0">
                <a:solidFill>
                  <a:schemeClr val="dk1"/>
                </a:solidFill>
                <a:latin typeface="Calibri"/>
              </a:rPr>
              <a:t>Bubble</a:t>
            </a:r>
            <a:r>
              <a:rPr lang="zh-TW" altLang="en-US" b="1" dirty="0">
                <a:solidFill>
                  <a:schemeClr val="dk1"/>
                </a:solidFill>
                <a:latin typeface="Calibri"/>
              </a:rPr>
              <a:t>是什麼原因</a:t>
            </a:r>
            <a:endParaRPr lang="en-US" b="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Gap to Pipeline </a:t>
            </a:r>
            <a:r>
              <a:rPr lang="en-US" altLang="zh-TW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(to-do)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TextBox 15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20234-C51A-0634-9AAC-2A785A7AC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>
            <a:extLst>
              <a:ext uri="{FF2B5EF4-FFF2-40B4-BE49-F238E27FC236}">
                <a16:creationId xmlns:a16="http://schemas.microsoft.com/office/drawing/2014/main" id="{9C898A19-88EB-5513-D6E4-1900E98AAB01}"/>
              </a:ext>
            </a:extLst>
          </p:cNvPr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Gap to Synthesizable RTL</a:t>
            </a:r>
            <a:r>
              <a:rPr lang="zh-TW" alt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(to-do)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3">
            <a:extLst>
              <a:ext uri="{FF2B5EF4-FFF2-40B4-BE49-F238E27FC236}">
                <a16:creationId xmlns:a16="http://schemas.microsoft.com/office/drawing/2014/main" id="{2AB54E6A-C594-425C-F662-471177265375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03" name="群組 18">
            <a:extLst>
              <a:ext uri="{FF2B5EF4-FFF2-40B4-BE49-F238E27FC236}">
                <a16:creationId xmlns:a16="http://schemas.microsoft.com/office/drawing/2014/main" id="{6702DD24-E91C-F219-B34B-9220C0CCCF5B}"/>
              </a:ext>
            </a:extLst>
          </p:cNvPr>
          <p:cNvGrpSpPr/>
          <p:nvPr/>
        </p:nvGrpSpPr>
        <p:grpSpPr>
          <a:xfrm>
            <a:off x="502920" y="1234440"/>
            <a:ext cx="4545720" cy="2767680"/>
            <a:chOff x="502920" y="1234440"/>
            <a:chExt cx="4545720" cy="2767680"/>
          </a:xfrm>
        </p:grpSpPr>
        <p:sp>
          <p:nvSpPr>
            <p:cNvPr id="204" name="Rounded Rectangle 4">
              <a:extLst>
                <a:ext uri="{FF2B5EF4-FFF2-40B4-BE49-F238E27FC236}">
                  <a16:creationId xmlns:a16="http://schemas.microsoft.com/office/drawing/2014/main" id="{3ACEB331-F23D-00C8-8798-C99050BDB97B}"/>
                </a:ext>
              </a:extLst>
            </p:cNvPr>
            <p:cNvSpPr/>
            <p:nvPr/>
          </p:nvSpPr>
          <p:spPr>
            <a:xfrm>
              <a:off x="502920" y="1234440"/>
              <a:ext cx="4545720" cy="240588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05" name="TextBox 5">
              <a:extLst>
                <a:ext uri="{FF2B5EF4-FFF2-40B4-BE49-F238E27FC236}">
                  <a16:creationId xmlns:a16="http://schemas.microsoft.com/office/drawing/2014/main" id="{C4F4352F-2113-553E-0721-E1B8F8009F41}"/>
                </a:ext>
              </a:extLst>
            </p:cNvPr>
            <p:cNvSpPr/>
            <p:nvPr/>
          </p:nvSpPr>
          <p:spPr>
            <a:xfrm>
              <a:off x="721080" y="1440720"/>
              <a:ext cx="4109400" cy="34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B84141"/>
                  </a:solidFill>
                  <a:effectLst/>
                  <a:uFillTx/>
                  <a:latin typeface="Calibri"/>
                </a:rPr>
                <a:t>Microarchitecture RTL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TextBox 6">
              <a:extLst>
                <a:ext uri="{FF2B5EF4-FFF2-40B4-BE49-F238E27FC236}">
                  <a16:creationId xmlns:a16="http://schemas.microsoft.com/office/drawing/2014/main" id="{1E2A4453-66D2-A397-9723-7063DD4238AF}"/>
                </a:ext>
              </a:extLst>
            </p:cNvPr>
            <p:cNvSpPr/>
            <p:nvPr/>
          </p:nvSpPr>
          <p:spPr>
            <a:xfrm>
              <a:off x="745200" y="1922040"/>
              <a:ext cx="4121640" cy="208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Translate TLM engines to RTL state machines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Finalize descriptor CSR/ring interfaces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Define reset/clock/power domains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Harden TNPS and UDMA datapaths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7" name="群組 16">
            <a:extLst>
              <a:ext uri="{FF2B5EF4-FFF2-40B4-BE49-F238E27FC236}">
                <a16:creationId xmlns:a16="http://schemas.microsoft.com/office/drawing/2014/main" id="{FAE3AEA8-A367-FEA8-D3E4-F0C2030BFF15}"/>
              </a:ext>
            </a:extLst>
          </p:cNvPr>
          <p:cNvGrpSpPr/>
          <p:nvPr/>
        </p:nvGrpSpPr>
        <p:grpSpPr>
          <a:xfrm>
            <a:off x="7143120" y="1298520"/>
            <a:ext cx="4004640" cy="2091960"/>
            <a:chOff x="7143120" y="1298520"/>
            <a:chExt cx="4004640" cy="2091960"/>
          </a:xfrm>
        </p:grpSpPr>
        <p:sp>
          <p:nvSpPr>
            <p:cNvPr id="208" name="Rounded Rectangle 7">
              <a:extLst>
                <a:ext uri="{FF2B5EF4-FFF2-40B4-BE49-F238E27FC236}">
                  <a16:creationId xmlns:a16="http://schemas.microsoft.com/office/drawing/2014/main" id="{264B7427-8DA7-2FAD-0984-89BBEBE8863A}"/>
                </a:ext>
              </a:extLst>
            </p:cNvPr>
            <p:cNvSpPr/>
            <p:nvPr/>
          </p:nvSpPr>
          <p:spPr>
            <a:xfrm>
              <a:off x="7143120" y="1298520"/>
              <a:ext cx="4004640" cy="209196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09" name="TextBox 8">
              <a:extLst>
                <a:ext uri="{FF2B5EF4-FFF2-40B4-BE49-F238E27FC236}">
                  <a16:creationId xmlns:a16="http://schemas.microsoft.com/office/drawing/2014/main" id="{71E7E9D4-1FC9-09B0-347C-F08860D5BA82}"/>
                </a:ext>
              </a:extLst>
            </p:cNvPr>
            <p:cNvSpPr/>
            <p:nvPr/>
          </p:nvSpPr>
          <p:spPr>
            <a:xfrm>
              <a:off x="7335360" y="1477800"/>
              <a:ext cx="3620160" cy="35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100" b="1" u="none" strike="noStrike">
                  <a:solidFill>
                    <a:srgbClr val="E08430"/>
                  </a:solidFill>
                  <a:effectLst/>
                  <a:uFillTx/>
                  <a:latin typeface="Calibri"/>
                </a:rPr>
                <a:t>Timing Accuracy</a:t>
              </a:r>
              <a:endPara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TextBox 9">
              <a:extLst>
                <a:ext uri="{FF2B5EF4-FFF2-40B4-BE49-F238E27FC236}">
                  <a16:creationId xmlns:a16="http://schemas.microsoft.com/office/drawing/2014/main" id="{BC4460B9-4E4E-0AE0-B392-3BE6B600B23E}"/>
                </a:ext>
              </a:extLst>
            </p:cNvPr>
            <p:cNvSpPr/>
            <p:nvPr/>
          </p:nvSpPr>
          <p:spPr>
            <a:xfrm>
              <a:off x="7356600" y="1896120"/>
              <a:ext cx="3630960" cy="116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Cycle-accurate L1Mesh bank arbitration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Real DRAM controller behavior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Backpressure and FIFO sizing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Clock-domain and SRAM macro timing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1" name="群組 17">
            <a:extLst>
              <a:ext uri="{FF2B5EF4-FFF2-40B4-BE49-F238E27FC236}">
                <a16:creationId xmlns:a16="http://schemas.microsoft.com/office/drawing/2014/main" id="{0C8178D7-CDF7-A4E5-6BCF-69A08E843684}"/>
              </a:ext>
            </a:extLst>
          </p:cNvPr>
          <p:cNvGrpSpPr/>
          <p:nvPr/>
        </p:nvGrpSpPr>
        <p:grpSpPr>
          <a:xfrm>
            <a:off x="3933000" y="4119120"/>
            <a:ext cx="4545720" cy="2327040"/>
            <a:chOff x="3933000" y="4119120"/>
            <a:chExt cx="4545720" cy="2327040"/>
          </a:xfrm>
        </p:grpSpPr>
        <p:sp>
          <p:nvSpPr>
            <p:cNvPr id="212" name="Rounded Rectangle 10">
              <a:extLst>
                <a:ext uri="{FF2B5EF4-FFF2-40B4-BE49-F238E27FC236}">
                  <a16:creationId xmlns:a16="http://schemas.microsoft.com/office/drawing/2014/main" id="{DDF64B73-5ECC-7C11-0736-EEA57CE31D2E}"/>
                </a:ext>
              </a:extLst>
            </p:cNvPr>
            <p:cNvSpPr/>
            <p:nvPr/>
          </p:nvSpPr>
          <p:spPr>
            <a:xfrm>
              <a:off x="3933000" y="4119120"/>
              <a:ext cx="4545720" cy="23270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213" name="TextBox 11">
              <a:extLst>
                <a:ext uri="{FF2B5EF4-FFF2-40B4-BE49-F238E27FC236}">
                  <a16:creationId xmlns:a16="http://schemas.microsoft.com/office/drawing/2014/main" id="{D548EDCC-FE49-2DC7-EC11-49474EA88ECE}"/>
                </a:ext>
              </a:extLst>
            </p:cNvPr>
            <p:cNvSpPr/>
            <p:nvPr/>
          </p:nvSpPr>
          <p:spPr>
            <a:xfrm>
              <a:off x="4163400" y="4318560"/>
              <a:ext cx="4084920" cy="35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2100" b="1" u="none" strike="noStrike">
                  <a:solidFill>
                    <a:srgbClr val="183458"/>
                  </a:solidFill>
                  <a:effectLst/>
                  <a:uFillTx/>
                  <a:latin typeface="Calibri"/>
                </a:rPr>
                <a:t>Verification Closure</a:t>
              </a:r>
              <a:endParaRPr lang="en-US" sz="21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TextBox 12">
              <a:extLst>
                <a:ext uri="{FF2B5EF4-FFF2-40B4-BE49-F238E27FC236}">
                  <a16:creationId xmlns:a16="http://schemas.microsoft.com/office/drawing/2014/main" id="{84A748BA-901D-B828-8660-EA5B9C4D461F}"/>
                </a:ext>
              </a:extLst>
            </p:cNvPr>
            <p:cNvSpPr/>
            <p:nvPr/>
          </p:nvSpPr>
          <p:spPr>
            <a:xfrm>
              <a:off x="4188960" y="4784040"/>
              <a:ext cx="4097520" cy="12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Golden model and random tests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Coverage for all op modes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RTL/</a:t>
              </a:r>
              <a:r>
                <a:rPr lang="en-US" sz="1600" b="0" u="none" strike="noStrike" dirty="0" err="1">
                  <a:solidFill>
                    <a:srgbClr val="191C21"/>
                  </a:solidFill>
                  <a:effectLst/>
                  <a:uFillTx/>
                  <a:latin typeface="Calibri"/>
                </a:rPr>
                <a:t>SystemC</a:t>
              </a: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co-simulation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457200">
                <a:lnSpc>
                  <a:spcPct val="100000"/>
                </a:lnSpc>
                <a:spcAft>
                  <a:spcPts val="700"/>
                </a:spcAft>
              </a:pPr>
              <a:r>
                <a:rPr lang="en-US" sz="16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Full fast/conflict/mesh regression gates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5" name="TextBox 15">
            <a:extLst>
              <a:ext uri="{FF2B5EF4-FFF2-40B4-BE49-F238E27FC236}">
                <a16:creationId xmlns:a16="http://schemas.microsoft.com/office/drawing/2014/main" id="{7FCE5304-9004-8BC4-A2D1-F082C1D675D9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399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1160</TotalTime>
  <Words>889</Words>
  <Application>Microsoft Macintosh PowerPoint</Application>
  <PresentationFormat>寬螢幕</PresentationFormat>
  <Paragraphs>191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Helvetica Neue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xyz1106</cp:lastModifiedBy>
  <cp:revision>24</cp:revision>
  <dcterms:created xsi:type="dcterms:W3CDTF">2013-01-27T09:14:16Z</dcterms:created>
  <dcterms:modified xsi:type="dcterms:W3CDTF">2026-05-10T08:16:23Z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